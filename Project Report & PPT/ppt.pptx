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50"/>
  </p:notesMasterIdLst>
  <p:sldIdLst>
    <p:sldId id="256" r:id="rId3"/>
    <p:sldId id="257" r:id="rId4"/>
    <p:sldId id="33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8" r:id="rId13"/>
    <p:sldId id="359" r:id="rId14"/>
    <p:sldId id="360" r:id="rId15"/>
    <p:sldId id="261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01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92" r:id="rId34"/>
    <p:sldId id="377" r:id="rId35"/>
    <p:sldId id="378" r:id="rId36"/>
    <p:sldId id="379" r:id="rId37"/>
    <p:sldId id="380" r:id="rId38"/>
    <p:sldId id="381" r:id="rId39"/>
    <p:sldId id="390" r:id="rId40"/>
    <p:sldId id="382" r:id="rId41"/>
    <p:sldId id="383" r:id="rId42"/>
    <p:sldId id="391" r:id="rId43"/>
    <p:sldId id="384" r:id="rId44"/>
    <p:sldId id="388" r:id="rId45"/>
    <p:sldId id="389" r:id="rId46"/>
    <p:sldId id="386" r:id="rId47"/>
    <p:sldId id="385" r:id="rId48"/>
    <p:sldId id="387" r:id="rId49"/>
  </p:sldIdLst>
  <p:sldSz cx="18288000" cy="10287000"/>
  <p:notesSz cx="6858000" cy="9144000"/>
  <p:embeddedFontLst>
    <p:embeddedFont>
      <p:font typeface="Aharoni CLM Bold" panose="02010600030101010101" charset="-79"/>
      <p:regular r:id="rId51"/>
      <p:bold r:id="rId52"/>
    </p:embeddedFont>
    <p:embeddedFont>
      <p:font typeface="Britannic Bold" panose="020B0903060703020204" pitchFamily="34" charset="0"/>
      <p:regular r:id="rId53"/>
    </p:embeddedFont>
    <p:embeddedFont>
      <p:font typeface="Segoe UI Semibold" panose="020B0702040204020203" pitchFamily="34" charset="0"/>
      <p:bold r:id="rId54"/>
      <p:boldItalic r:id="rId55"/>
    </p:embeddedFont>
    <p:embeddedFont>
      <p:font typeface="SimSun-ExtB" panose="02010609060101010101" pitchFamily="49" charset="-122"/>
      <p:regular r:id="rId56"/>
    </p:embeddedFont>
    <p:embeddedFont>
      <p:font typeface="等线" panose="02010600030101010101" pitchFamily="2" charset="-122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84038" autoAdjust="0"/>
  </p:normalViewPr>
  <p:slideViewPr>
    <p:cSldViewPr>
      <p:cViewPr varScale="1">
        <p:scale>
          <a:sx n="48" d="100"/>
          <a:sy n="48" d="100"/>
        </p:scale>
        <p:origin x="1027" y="82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6.fntdata"/><Relationship Id="rId8" Type="http://schemas.openxmlformats.org/officeDocument/2006/relationships/slide" Target="slides/slide6.xml"/><Relationship Id="rId51" Type="http://schemas.openxmlformats.org/officeDocument/2006/relationships/font" Target="fonts/font1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7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725A9-2DCC-4DF6-A728-CC5E613F380D}" type="datetimeFigureOut">
              <a:rPr lang="zh-CN" altLang="en-US" smtClean="0"/>
              <a:t>2024-01-10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3A5FE-3B77-4B8F-A29A-8A82D4DC5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48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683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976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231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334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621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11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endParaRPr lang="en-US" altLang="zh-CN" dirty="0"/>
          </a:p>
          <a:p>
            <a:r>
              <a:rPr lang="zh-CN" altLang="en-US" dirty="0"/>
              <a:t>申请真实地址</a:t>
            </a:r>
            <a:endParaRPr lang="en-US" altLang="zh-CN" dirty="0"/>
          </a:p>
          <a:p>
            <a:r>
              <a:rPr lang="zh-CN" altLang="en-US" dirty="0"/>
              <a:t>开启新线程</a:t>
            </a:r>
            <a:endParaRPr lang="en-US" altLang="zh-CN" dirty="0"/>
          </a:p>
          <a:p>
            <a:r>
              <a:rPr lang="zh-CN" altLang="en-US" dirty="0"/>
              <a:t>输入账号密码</a:t>
            </a:r>
            <a:endParaRPr lang="en-US" altLang="zh-CN" dirty="0"/>
          </a:p>
          <a:p>
            <a:r>
              <a:rPr lang="zh-CN" altLang="en-US" dirty="0"/>
              <a:t>进入登录后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420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output</a:t>
            </a:r>
            <a:r>
              <a:rPr lang="zh-CN" altLang="en-US" dirty="0"/>
              <a:t>和</a:t>
            </a:r>
            <a:r>
              <a:rPr lang="en-US" altLang="zh-CN" dirty="0"/>
              <a:t>options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878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如图所示。。。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285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用户申请显示选项</a:t>
            </a:r>
            <a:endParaRPr lang="en-US" altLang="zh-CN" dirty="0"/>
          </a:p>
          <a:p>
            <a:r>
              <a:rPr lang="zh-CN" altLang="en-US" dirty="0"/>
              <a:t>服务器端筛选返回并接收用户输入</a:t>
            </a:r>
            <a:endParaRPr lang="en-US" altLang="zh-CN" dirty="0"/>
          </a:p>
          <a:p>
            <a:r>
              <a:rPr lang="zh-CN" altLang="en-US" dirty="0"/>
              <a:t>用户输入后，服务器端处理，更新用户状态并返回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271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031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137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884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1200" dirty="0">
              <a:solidFill>
                <a:schemeClr val="bg1"/>
              </a:solidFill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563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003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013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626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A5FE-3B77-4B8F-A29A-8A82D4DC597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13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14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5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52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9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39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30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4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31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066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06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2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imSun-ExtB" panose="02010609060101010101" pitchFamily="49" charset="-122"/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imSun-ExtB" panose="0201060906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imSun-ExtB" panose="02010609060101010101" pitchFamily="49" charset="-122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imSun-ExtB" panose="02010609060101010101" pitchFamily="49" charset="-122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imSun-ExtB" panose="02010609060101010101" pitchFamily="49" charset="-122"/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imSun-ExtB" panose="0201060906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imSun-ExtB" panose="02010609060101010101" pitchFamily="49" charset="-122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0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imSun-ExtB" panose="02010609060101010101" pitchFamily="49" charset="-122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imSun-ExtB" panose="02010609060101010101" pitchFamily="49" charset="-122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36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43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53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5315"/>
            <a:ext cx="18288000" cy="3309626"/>
            <a:chOff x="0" y="0"/>
            <a:chExt cx="4816593" cy="8716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1671"/>
            </a:xfrm>
            <a:custGeom>
              <a:avLst/>
              <a:gdLst/>
              <a:ahLst/>
              <a:cxnLst/>
              <a:rect l="l" t="t" r="r" b="b"/>
              <a:pathLst>
                <a:path w="4816592" h="871671">
                  <a:moveTo>
                    <a:pt x="0" y="0"/>
                  </a:moveTo>
                  <a:lnTo>
                    <a:pt x="4816592" y="0"/>
                  </a:lnTo>
                  <a:lnTo>
                    <a:pt x="4816592" y="871671"/>
                  </a:lnTo>
                  <a:lnTo>
                    <a:pt x="0" y="871671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imSun-ExtB" panose="02010609060101010101" pitchFamily="49" charset="-122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82070" y="4633235"/>
            <a:ext cx="15120933" cy="4214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394"/>
              </a:lnSpc>
            </a:pPr>
            <a:r>
              <a:rPr lang="en-US" altLang="zh-CN" sz="6600" spc="507" dirty="0">
                <a:solidFill>
                  <a:srgbClr val="304370"/>
                </a:solidFill>
                <a:latin typeface="Britannic Bold" panose="020B0903060703020204" pitchFamily="34" charset="0"/>
                <a:ea typeface="SimSun-ExtB" panose="02010609060101010101" pitchFamily="49" charset="-122"/>
              </a:rPr>
              <a:t>LSQL: Student-Manage System Based on I-Node FS</a:t>
            </a:r>
          </a:p>
          <a:p>
            <a:pPr algn="ctr">
              <a:lnSpc>
                <a:spcPts val="11394"/>
              </a:lnSpc>
            </a:pPr>
            <a:endParaRPr lang="en-US" sz="6600" spc="507" dirty="0">
              <a:solidFill>
                <a:srgbClr val="304370"/>
              </a:solidFill>
              <a:latin typeface="Britannic Bold" panose="020B0903060703020204" pitchFamily="34" charset="0"/>
              <a:ea typeface="SimSun-ExtB" panose="02010609060101010101" pitchFamily="49" charset="-122"/>
            </a:endParaRPr>
          </a:p>
        </p:txBody>
      </p:sp>
      <p:pic>
        <p:nvPicPr>
          <p:cNvPr id="32" name="图片 31" descr="黑白色的标志&#10;&#10;低可信度描述已自动生成">
            <a:extLst>
              <a:ext uri="{FF2B5EF4-FFF2-40B4-BE49-F238E27FC236}">
                <a16:creationId xmlns:a16="http://schemas.microsoft.com/office/drawing/2014/main" id="{4CCD9F5C-A5C0-CCAA-AF44-1FF1398B0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518" y="688362"/>
            <a:ext cx="4132746" cy="4132746"/>
          </a:xfrm>
          <a:prstGeom prst="rect">
            <a:avLst/>
          </a:prstGeom>
        </p:spPr>
      </p:pic>
      <p:grpSp>
        <p:nvGrpSpPr>
          <p:cNvPr id="5" name="Group 16">
            <a:extLst>
              <a:ext uri="{FF2B5EF4-FFF2-40B4-BE49-F238E27FC236}">
                <a16:creationId xmlns:a16="http://schemas.microsoft.com/office/drawing/2014/main" id="{8055E547-C8D3-FD42-F4FB-070B0CC0D170}"/>
              </a:ext>
            </a:extLst>
          </p:cNvPr>
          <p:cNvGrpSpPr/>
          <p:nvPr/>
        </p:nvGrpSpPr>
        <p:grpSpPr>
          <a:xfrm>
            <a:off x="9144000" y="8496300"/>
            <a:ext cx="8837084" cy="582938"/>
            <a:chOff x="0" y="0"/>
            <a:chExt cx="10461979" cy="777251"/>
          </a:xfrm>
        </p:grpSpPr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5E2F712E-12E7-A6C2-9D01-6FAE0C22C7F6}"/>
                </a:ext>
              </a:extLst>
            </p:cNvPr>
            <p:cNvGrpSpPr/>
            <p:nvPr/>
          </p:nvGrpSpPr>
          <p:grpSpPr>
            <a:xfrm>
              <a:off x="0" y="0"/>
              <a:ext cx="777251" cy="777251"/>
              <a:chOff x="0" y="0"/>
              <a:chExt cx="812800" cy="812800"/>
            </a:xfrm>
          </p:grpSpPr>
          <p:sp>
            <p:nvSpPr>
              <p:cNvPr id="9" name="Freeform 18">
                <a:extLst>
                  <a:ext uri="{FF2B5EF4-FFF2-40B4-BE49-F238E27FC236}">
                    <a16:creationId xmlns:a16="http://schemas.microsoft.com/office/drawing/2014/main" id="{ED975440-01A5-5C1A-4951-5AC6813CBBCB}"/>
                  </a:ext>
                </a:extLst>
              </p:cNvPr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304370"/>
              </a:solidFill>
            </p:spPr>
            <p:txBody>
              <a:bodyPr/>
              <a:lstStyle/>
              <a:p>
                <a:endParaRPr lang="zh-CN" altLang="en-US" dirty="0">
                  <a:latin typeface="SimSun-ExtB" panose="02010609060101010101" pitchFamily="49" charset="-122"/>
                  <a:ea typeface="SimSun-ExtB" panose="02010609060101010101" pitchFamily="49" charset="-122"/>
                </a:endParaRPr>
              </a:p>
            </p:txBody>
          </p:sp>
          <p:sp>
            <p:nvSpPr>
              <p:cNvPr id="10" name="TextBox 19">
                <a:extLst>
                  <a:ext uri="{FF2B5EF4-FFF2-40B4-BE49-F238E27FC236}">
                    <a16:creationId xmlns:a16="http://schemas.microsoft.com/office/drawing/2014/main" id="{65941FFF-BE77-BB9C-734D-8E202143EA4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>
                  <a:latin typeface="SimSun-ExtB" panose="02010609060101010101" pitchFamily="49" charset="-122"/>
                </a:endParaRPr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1FD5B9F2-2F37-0B07-E18B-8400A101A668}"/>
                </a:ext>
              </a:extLst>
            </p:cNvPr>
            <p:cNvSpPr/>
            <p:nvPr/>
          </p:nvSpPr>
          <p:spPr>
            <a:xfrm>
              <a:off x="142581" y="219024"/>
              <a:ext cx="492089" cy="364603"/>
            </a:xfrm>
            <a:custGeom>
              <a:avLst/>
              <a:gdLst/>
              <a:ahLst/>
              <a:cxnLst/>
              <a:rect l="l" t="t" r="r" b="b"/>
              <a:pathLst>
                <a:path w="492089" h="364603">
                  <a:moveTo>
                    <a:pt x="0" y="0"/>
                  </a:moveTo>
                  <a:lnTo>
                    <a:pt x="492089" y="0"/>
                  </a:lnTo>
                  <a:lnTo>
                    <a:pt x="492089" y="364603"/>
                  </a:lnTo>
                  <a:lnTo>
                    <a:pt x="0" y="364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  <p:sp>
          <p:nvSpPr>
            <p:cNvPr id="8" name="TextBox 21">
              <a:extLst>
                <a:ext uri="{FF2B5EF4-FFF2-40B4-BE49-F238E27FC236}">
                  <a16:creationId xmlns:a16="http://schemas.microsoft.com/office/drawing/2014/main" id="{6A31BCAA-1629-6183-45DB-29CC652F3FF3}"/>
                </a:ext>
              </a:extLst>
            </p:cNvPr>
            <p:cNvSpPr txBox="1"/>
            <p:nvPr/>
          </p:nvSpPr>
          <p:spPr>
            <a:xfrm>
              <a:off x="996339" y="109117"/>
              <a:ext cx="9465640" cy="5283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359"/>
                </a:lnSpc>
                <a:spcBef>
                  <a:spcPct val="0"/>
                </a:spcBef>
              </a:pPr>
              <a:r>
                <a:rPr lang="en-US" altLang="zh-CN" sz="2399" spc="359" dirty="0">
                  <a:solidFill>
                    <a:srgbClr val="304370"/>
                  </a:solidFill>
                  <a:latin typeface="Segoe UI Semibold" panose="020B0702040204020203" pitchFamily="34" charset="0"/>
                  <a:ea typeface="SimSun-ExtB" panose="02010609060101010101" pitchFamily="49" charset="-122"/>
                  <a:cs typeface="Segoe UI Semibold" panose="020B0702040204020203" pitchFamily="34" charset="0"/>
                </a:rPr>
                <a:t>Members</a:t>
              </a:r>
              <a:r>
                <a:rPr lang="zh-CN" altLang="en-US" sz="2399" spc="359" dirty="0">
                  <a:solidFill>
                    <a:srgbClr val="304370"/>
                  </a:solidFill>
                  <a:latin typeface="Segoe UI Semibold" panose="020B0702040204020203" pitchFamily="34" charset="0"/>
                  <a:ea typeface="SimSun-ExtB" panose="02010609060101010101" pitchFamily="49" charset="-122"/>
                  <a:cs typeface="Segoe UI Semibold" panose="020B0702040204020203" pitchFamily="34" charset="0"/>
                </a:rPr>
                <a:t> ：</a:t>
              </a:r>
              <a:r>
                <a:rPr lang="zh-CN" altLang="en-US" sz="2399" spc="359" dirty="0">
                  <a:solidFill>
                    <a:srgbClr val="304370"/>
                  </a:solidFill>
                  <a:latin typeface="SimSun-ExtB" panose="02010609060101010101" pitchFamily="49" charset="-122"/>
                  <a:ea typeface="SimSun-ExtB" panose="02010609060101010101" pitchFamily="49" charset="-122"/>
                </a:rPr>
                <a:t>全秦霄、李宇扬、李伟杰、石寒雪</a:t>
              </a:r>
              <a:endParaRPr lang="en-US" sz="2399" spc="359" dirty="0">
                <a:solidFill>
                  <a:srgbClr val="304370"/>
                </a:solidFill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86" y="-82540"/>
            <a:ext cx="18288000" cy="2695487"/>
            <a:chOff x="0" y="0"/>
            <a:chExt cx="4816593" cy="709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709923"/>
            </a:xfrm>
            <a:custGeom>
              <a:avLst/>
              <a:gdLst/>
              <a:ahLst/>
              <a:cxnLst/>
              <a:rect l="l" t="t" r="r" b="b"/>
              <a:pathLst>
                <a:path w="4816592" h="709923">
                  <a:moveTo>
                    <a:pt x="0" y="0"/>
                  </a:moveTo>
                  <a:lnTo>
                    <a:pt x="4816592" y="0"/>
                  </a:lnTo>
                  <a:lnTo>
                    <a:pt x="4816592" y="709923"/>
                  </a:lnTo>
                  <a:lnTo>
                    <a:pt x="0" y="70992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imSun-ExtB" panose="02010609060101010101" pitchFamily="49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182600" y="1265203"/>
            <a:ext cx="4250789" cy="57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96"/>
              </a:lnSpc>
            </a:pPr>
            <a:r>
              <a:rPr lang="en-US" sz="4800" spc="256" dirty="0">
                <a:solidFill>
                  <a:srgbClr val="FFFFFF"/>
                </a:solidFill>
                <a:latin typeface="Aharoni CLM Bold"/>
              </a:rPr>
              <a:t>CONTENTS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852109" y="3786600"/>
            <a:ext cx="6492460" cy="1074012"/>
            <a:chOff x="0" y="-56879"/>
            <a:chExt cx="8656614" cy="1432016"/>
          </a:xfrm>
        </p:grpSpPr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>
              <a:off x="0" y="0"/>
              <a:ext cx="1318260" cy="1318260"/>
              <a:chOff x="0" y="0"/>
              <a:chExt cx="6350000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-156812" y="-5088"/>
                <a:ext cx="6663624" cy="6360176"/>
              </a:xfrm>
              <a:custGeom>
                <a:avLst/>
                <a:gdLst/>
                <a:ahLst/>
                <a:cxnLst/>
                <a:rect l="l" t="t" r="r" b="b"/>
                <a:pathLst>
                  <a:path w="6663624" h="6360176">
                    <a:moveTo>
                      <a:pt x="3331812" y="5088"/>
                    </a:moveTo>
                    <a:lnTo>
                      <a:pt x="3331812" y="5088"/>
                    </a:lnTo>
                    <a:cubicBezTo>
                      <a:pt x="2194111" y="0"/>
                      <a:pt x="1140649" y="604036"/>
                      <a:pt x="570324" y="1588475"/>
                    </a:cubicBezTo>
                    <a:cubicBezTo>
                      <a:pt x="0" y="2572913"/>
                      <a:pt x="0" y="3787263"/>
                      <a:pt x="570324" y="4771701"/>
                    </a:cubicBezTo>
                    <a:cubicBezTo>
                      <a:pt x="1140649" y="5756140"/>
                      <a:pt x="2194111" y="6360176"/>
                      <a:pt x="3331812" y="6355088"/>
                    </a:cubicBezTo>
                    <a:cubicBezTo>
                      <a:pt x="4469513" y="6360176"/>
                      <a:pt x="5522976" y="5756140"/>
                      <a:pt x="6093300" y="4771701"/>
                    </a:cubicBezTo>
                    <a:cubicBezTo>
                      <a:pt x="6663624" y="3787263"/>
                      <a:pt x="6663624" y="2572913"/>
                      <a:pt x="6093300" y="1588475"/>
                    </a:cubicBezTo>
                    <a:cubicBezTo>
                      <a:pt x="5522976" y="604036"/>
                      <a:pt x="4469513" y="0"/>
                      <a:pt x="3331812" y="5088"/>
                    </a:cubicBezTo>
                    <a:close/>
                  </a:path>
                </a:pathLst>
              </a:custGeom>
              <a:solidFill>
                <a:srgbClr val="304370"/>
              </a:solidFill>
            </p:spPr>
            <p:txBody>
              <a:bodyPr/>
              <a:lstStyle/>
              <a:p>
                <a:endParaRPr lang="zh-CN" altLang="en-US" dirty="0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136870"/>
              <a:ext cx="1318260" cy="92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499" spc="359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07260" y="-56879"/>
              <a:ext cx="6449354" cy="14320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096"/>
                </a:lnSpc>
              </a:pPr>
              <a:r>
                <a:rPr lang="en-US" altLang="zh-CN" sz="3600" b="1" spc="32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Communications structure</a:t>
              </a:r>
              <a:endParaRPr lang="en-US" sz="3600" b="1" spc="320" dirty="0">
                <a:solidFill>
                  <a:srgbClr val="00000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52109" y="5669396"/>
            <a:ext cx="6492460" cy="1051570"/>
            <a:chOff x="0" y="-7348"/>
            <a:chExt cx="8656614" cy="1402093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0" y="0"/>
              <a:ext cx="1318260" cy="131826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-156812" y="-5088"/>
                <a:ext cx="6663624" cy="6360176"/>
              </a:xfrm>
              <a:custGeom>
                <a:avLst/>
                <a:gdLst/>
                <a:ahLst/>
                <a:cxnLst/>
                <a:rect l="l" t="t" r="r" b="b"/>
                <a:pathLst>
                  <a:path w="6663624" h="6360176">
                    <a:moveTo>
                      <a:pt x="3331812" y="5088"/>
                    </a:moveTo>
                    <a:lnTo>
                      <a:pt x="3331812" y="5088"/>
                    </a:lnTo>
                    <a:cubicBezTo>
                      <a:pt x="2194111" y="0"/>
                      <a:pt x="1140649" y="604036"/>
                      <a:pt x="570324" y="1588475"/>
                    </a:cubicBezTo>
                    <a:cubicBezTo>
                      <a:pt x="0" y="2572913"/>
                      <a:pt x="0" y="3787263"/>
                      <a:pt x="570324" y="4771701"/>
                    </a:cubicBezTo>
                    <a:cubicBezTo>
                      <a:pt x="1140649" y="5756140"/>
                      <a:pt x="2194111" y="6360176"/>
                      <a:pt x="3331812" y="6355088"/>
                    </a:cubicBezTo>
                    <a:cubicBezTo>
                      <a:pt x="4469513" y="6360176"/>
                      <a:pt x="5522976" y="5756140"/>
                      <a:pt x="6093300" y="4771701"/>
                    </a:cubicBezTo>
                    <a:cubicBezTo>
                      <a:pt x="6663624" y="3787263"/>
                      <a:pt x="6663624" y="2572913"/>
                      <a:pt x="6093300" y="1588475"/>
                    </a:cubicBezTo>
                    <a:cubicBezTo>
                      <a:pt x="5522976" y="604036"/>
                      <a:pt x="4469513" y="0"/>
                      <a:pt x="3331812" y="5088"/>
                    </a:cubicBezTo>
                    <a:close/>
                  </a:path>
                </a:pathLst>
              </a:custGeom>
              <a:solidFill>
                <a:srgbClr val="304370"/>
              </a:solidFill>
            </p:spPr>
            <p:txBody>
              <a:bodyPr/>
              <a:lstStyle/>
              <a:p>
                <a:endParaRPr lang="zh-CN" altLang="en-US" dirty="0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136871"/>
              <a:ext cx="1318260" cy="92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499" spc="359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07260" y="-7348"/>
              <a:ext cx="6449354" cy="1402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96"/>
                </a:lnSpc>
              </a:pPr>
              <a:r>
                <a:rPr lang="en-US" altLang="zh-CN" sz="3600" b="1" spc="32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I-Node </a:t>
              </a:r>
            </a:p>
            <a:p>
              <a:pPr>
                <a:lnSpc>
                  <a:spcPts val="4096"/>
                </a:lnSpc>
              </a:pPr>
              <a:r>
                <a:rPr lang="en-US" altLang="zh-CN" sz="3600" b="1" spc="32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File System</a:t>
              </a:r>
              <a:endParaRPr lang="en-US" sz="3600" b="1" spc="320" dirty="0">
                <a:solidFill>
                  <a:srgbClr val="00000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52109" y="7489414"/>
            <a:ext cx="7282491" cy="1051570"/>
            <a:chOff x="0" y="-41917"/>
            <a:chExt cx="9709989" cy="1402093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0"/>
              <a:ext cx="1318260" cy="1318260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-156812" y="-5088"/>
                <a:ext cx="6663624" cy="6360176"/>
              </a:xfrm>
              <a:custGeom>
                <a:avLst/>
                <a:gdLst/>
                <a:ahLst/>
                <a:cxnLst/>
                <a:rect l="l" t="t" r="r" b="b"/>
                <a:pathLst>
                  <a:path w="6663624" h="6360176">
                    <a:moveTo>
                      <a:pt x="3331812" y="5088"/>
                    </a:moveTo>
                    <a:lnTo>
                      <a:pt x="3331812" y="5088"/>
                    </a:lnTo>
                    <a:cubicBezTo>
                      <a:pt x="2194111" y="0"/>
                      <a:pt x="1140649" y="604036"/>
                      <a:pt x="570324" y="1588475"/>
                    </a:cubicBezTo>
                    <a:cubicBezTo>
                      <a:pt x="0" y="2572913"/>
                      <a:pt x="0" y="3787263"/>
                      <a:pt x="570324" y="4771701"/>
                    </a:cubicBezTo>
                    <a:cubicBezTo>
                      <a:pt x="1140649" y="5756140"/>
                      <a:pt x="2194111" y="6360176"/>
                      <a:pt x="3331812" y="6355088"/>
                    </a:cubicBezTo>
                    <a:cubicBezTo>
                      <a:pt x="4469513" y="6360176"/>
                      <a:pt x="5522976" y="5756140"/>
                      <a:pt x="6093300" y="4771701"/>
                    </a:cubicBezTo>
                    <a:cubicBezTo>
                      <a:pt x="6663624" y="3787263"/>
                      <a:pt x="6663624" y="2572913"/>
                      <a:pt x="6093300" y="1588475"/>
                    </a:cubicBezTo>
                    <a:cubicBezTo>
                      <a:pt x="5522976" y="604036"/>
                      <a:pt x="4469513" y="0"/>
                      <a:pt x="3331812" y="5088"/>
                    </a:cubicBezTo>
                    <a:close/>
                  </a:path>
                </a:pathLst>
              </a:custGeom>
              <a:solidFill>
                <a:srgbClr val="304370"/>
              </a:solidFill>
            </p:spPr>
            <p:txBody>
              <a:bodyPr/>
              <a:lstStyle/>
              <a:p>
                <a:endParaRPr lang="zh-CN" altLang="en-US" dirty="0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0" y="136870"/>
              <a:ext cx="1318260" cy="92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499" spc="359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07260" y="-41917"/>
              <a:ext cx="7502729" cy="14020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096"/>
                </a:lnSpc>
              </a:pPr>
              <a:r>
                <a:rPr lang="en-US" altLang="zh-CN" sz="3600" b="1" spc="32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Student Management System</a:t>
              </a:r>
              <a:endParaRPr lang="en-US" sz="3600" b="1" spc="320" dirty="0">
                <a:solidFill>
                  <a:srgbClr val="00000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12766" y="3829259"/>
            <a:ext cx="6492460" cy="988695"/>
            <a:chOff x="0" y="0"/>
            <a:chExt cx="8656614" cy="1318260"/>
          </a:xfrm>
        </p:grpSpPr>
        <p:grpSp>
          <p:nvGrpSpPr>
            <p:cNvPr id="31" name="Group 31"/>
            <p:cNvGrpSpPr>
              <a:grpSpLocks noChangeAspect="1"/>
            </p:cNvGrpSpPr>
            <p:nvPr/>
          </p:nvGrpSpPr>
          <p:grpSpPr>
            <a:xfrm>
              <a:off x="0" y="0"/>
              <a:ext cx="1318260" cy="1318260"/>
              <a:chOff x="0" y="0"/>
              <a:chExt cx="6350000" cy="6350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-156812" y="-5088"/>
                <a:ext cx="6663624" cy="6360176"/>
              </a:xfrm>
              <a:custGeom>
                <a:avLst/>
                <a:gdLst/>
                <a:ahLst/>
                <a:cxnLst/>
                <a:rect l="l" t="t" r="r" b="b"/>
                <a:pathLst>
                  <a:path w="6663624" h="6360176">
                    <a:moveTo>
                      <a:pt x="3331812" y="5088"/>
                    </a:moveTo>
                    <a:lnTo>
                      <a:pt x="3331812" y="5088"/>
                    </a:lnTo>
                    <a:cubicBezTo>
                      <a:pt x="2194111" y="0"/>
                      <a:pt x="1140649" y="604036"/>
                      <a:pt x="570324" y="1588475"/>
                    </a:cubicBezTo>
                    <a:cubicBezTo>
                      <a:pt x="0" y="2572913"/>
                      <a:pt x="0" y="3787263"/>
                      <a:pt x="570324" y="4771701"/>
                    </a:cubicBezTo>
                    <a:cubicBezTo>
                      <a:pt x="1140649" y="5756140"/>
                      <a:pt x="2194111" y="6360176"/>
                      <a:pt x="3331812" y="6355088"/>
                    </a:cubicBezTo>
                    <a:cubicBezTo>
                      <a:pt x="4469513" y="6360176"/>
                      <a:pt x="5522976" y="5756140"/>
                      <a:pt x="6093300" y="4771701"/>
                    </a:cubicBezTo>
                    <a:cubicBezTo>
                      <a:pt x="6663624" y="3787263"/>
                      <a:pt x="6663624" y="2572913"/>
                      <a:pt x="6093300" y="1588475"/>
                    </a:cubicBezTo>
                    <a:cubicBezTo>
                      <a:pt x="5522976" y="604036"/>
                      <a:pt x="4469513" y="0"/>
                      <a:pt x="3331812" y="5088"/>
                    </a:cubicBezTo>
                    <a:close/>
                  </a:path>
                </a:pathLst>
              </a:custGeom>
              <a:solidFill>
                <a:srgbClr val="304370"/>
              </a:solidFill>
            </p:spPr>
            <p:txBody>
              <a:bodyPr/>
              <a:lstStyle/>
              <a:p>
                <a:endParaRPr lang="zh-CN" altLang="en-US" dirty="0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136871"/>
              <a:ext cx="1318260" cy="92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499" spc="359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07260" y="264880"/>
              <a:ext cx="6449354" cy="701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96"/>
                </a:lnSpc>
              </a:pPr>
              <a:r>
                <a:rPr lang="en-US" altLang="zh-CN" sz="3600" b="1" spc="32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System Command</a:t>
              </a:r>
              <a:endParaRPr lang="en-US" sz="3600" b="1" spc="320" dirty="0">
                <a:solidFill>
                  <a:srgbClr val="00000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12766" y="5406503"/>
            <a:ext cx="6483555" cy="1577355"/>
            <a:chOff x="0" y="-357872"/>
            <a:chExt cx="8644740" cy="2103140"/>
          </a:xfrm>
        </p:grpSpPr>
        <p:grpSp>
          <p:nvGrpSpPr>
            <p:cNvPr id="36" name="Group 36"/>
            <p:cNvGrpSpPr>
              <a:grpSpLocks noChangeAspect="1"/>
            </p:cNvGrpSpPr>
            <p:nvPr/>
          </p:nvGrpSpPr>
          <p:grpSpPr>
            <a:xfrm>
              <a:off x="0" y="0"/>
              <a:ext cx="1318260" cy="1318260"/>
              <a:chOff x="0" y="0"/>
              <a:chExt cx="6350000" cy="6350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-156812" y="-5088"/>
                <a:ext cx="6663624" cy="6360176"/>
              </a:xfrm>
              <a:custGeom>
                <a:avLst/>
                <a:gdLst/>
                <a:ahLst/>
                <a:cxnLst/>
                <a:rect l="l" t="t" r="r" b="b"/>
                <a:pathLst>
                  <a:path w="6663624" h="6360176">
                    <a:moveTo>
                      <a:pt x="3331812" y="5088"/>
                    </a:moveTo>
                    <a:lnTo>
                      <a:pt x="3331812" y="5088"/>
                    </a:lnTo>
                    <a:cubicBezTo>
                      <a:pt x="2194111" y="0"/>
                      <a:pt x="1140649" y="604036"/>
                      <a:pt x="570324" y="1588475"/>
                    </a:cubicBezTo>
                    <a:cubicBezTo>
                      <a:pt x="0" y="2572913"/>
                      <a:pt x="0" y="3787263"/>
                      <a:pt x="570324" y="4771701"/>
                    </a:cubicBezTo>
                    <a:cubicBezTo>
                      <a:pt x="1140649" y="5756140"/>
                      <a:pt x="2194111" y="6360176"/>
                      <a:pt x="3331812" y="6355088"/>
                    </a:cubicBezTo>
                    <a:cubicBezTo>
                      <a:pt x="4469513" y="6360176"/>
                      <a:pt x="5522976" y="5756140"/>
                      <a:pt x="6093300" y="4771701"/>
                    </a:cubicBezTo>
                    <a:cubicBezTo>
                      <a:pt x="6663624" y="3787263"/>
                      <a:pt x="6663624" y="2572913"/>
                      <a:pt x="6093300" y="1588475"/>
                    </a:cubicBezTo>
                    <a:cubicBezTo>
                      <a:pt x="5522976" y="604036"/>
                      <a:pt x="4469513" y="0"/>
                      <a:pt x="3331812" y="5088"/>
                    </a:cubicBezTo>
                    <a:close/>
                  </a:path>
                </a:pathLst>
              </a:custGeom>
              <a:solidFill>
                <a:srgbClr val="304370"/>
              </a:solidFill>
            </p:spPr>
            <p:txBody>
              <a:bodyPr/>
              <a:lstStyle/>
              <a:p>
                <a:endParaRPr lang="zh-CN" altLang="en-US" dirty="0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0" y="136871"/>
              <a:ext cx="1318260" cy="92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499" spc="359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95386" y="-357872"/>
              <a:ext cx="6449354" cy="2103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96"/>
                </a:lnSpc>
              </a:pPr>
              <a:r>
                <a:rPr lang="en-US" altLang="zh-CN" sz="3600" b="1" spc="32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Content overview and division of labor</a:t>
              </a:r>
              <a:endParaRPr lang="en-US" sz="3600" b="1" spc="320" dirty="0">
                <a:solidFill>
                  <a:srgbClr val="00000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40" name="图片 39" descr="黑白色的标志&#10;&#10;低可信度描述已自动生成">
            <a:extLst>
              <a:ext uri="{FF2B5EF4-FFF2-40B4-BE49-F238E27FC236}">
                <a16:creationId xmlns:a16="http://schemas.microsoft.com/office/drawing/2014/main" id="{0241615C-C0C0-5516-DB61-192098538B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22" y="293846"/>
            <a:ext cx="2187951" cy="2187951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082144" y="1076518"/>
            <a:ext cx="12228407" cy="720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8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Option Implementation</a:t>
            </a:r>
            <a:endParaRPr lang="en-US" sz="4800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75F52F5-1FD8-5BD3-EE8C-A18B8C134630}"/>
              </a:ext>
            </a:extLst>
          </p:cNvPr>
          <p:cNvSpPr txBox="1"/>
          <p:nvPr/>
        </p:nvSpPr>
        <p:spPr>
          <a:xfrm>
            <a:off x="4191001" y="2358607"/>
            <a:ext cx="5562600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Option storage method: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D5B579-5D66-F2BA-D071-BFB12D3CD5CE}"/>
              </a:ext>
            </a:extLst>
          </p:cNvPr>
          <p:cNvSpPr txBox="1"/>
          <p:nvPr/>
        </p:nvSpPr>
        <p:spPr>
          <a:xfrm>
            <a:off x="4385310" y="5762215"/>
            <a:ext cx="11738551" cy="1833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40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Instance (total function table):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5F9B418-B990-2DC8-9E76-9B532CD671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968" r="1846"/>
          <a:stretch/>
        </p:blipFill>
        <p:spPr>
          <a:xfrm>
            <a:off x="4419600" y="7719125"/>
            <a:ext cx="11890951" cy="1600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43D8F1-D9A9-7946-79CF-71533D85D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3307188"/>
            <a:ext cx="5578876" cy="337184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07C056-0582-9578-87CB-F02BF7F34A90}"/>
              </a:ext>
            </a:extLst>
          </p:cNvPr>
          <p:cNvSpPr txBox="1"/>
          <p:nvPr/>
        </p:nvSpPr>
        <p:spPr>
          <a:xfrm>
            <a:off x="11201400" y="2267100"/>
            <a:ext cx="5562600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The client displays:</a:t>
            </a:r>
          </a:p>
        </p:txBody>
      </p:sp>
      <p:pic>
        <p:nvPicPr>
          <p:cNvPr id="10" name="图片 9" descr="表格&#10;&#10;描述已自动生成">
            <a:extLst>
              <a:ext uri="{FF2B5EF4-FFF2-40B4-BE49-F238E27FC236}">
                <a16:creationId xmlns:a16="http://schemas.microsoft.com/office/drawing/2014/main" id="{E9D9298D-A896-C149-1ED0-3D18196F95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558" y="3307186"/>
            <a:ext cx="66294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62347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TextBox 33">
            <a:extLst>
              <a:ext uri="{FF2B5EF4-FFF2-40B4-BE49-F238E27FC236}">
                <a16:creationId xmlns:a16="http://schemas.microsoft.com/office/drawing/2014/main" id="{840126D3-4C30-D881-7869-1D8739445604}"/>
              </a:ext>
            </a:extLst>
          </p:cNvPr>
          <p:cNvSpPr txBox="1"/>
          <p:nvPr/>
        </p:nvSpPr>
        <p:spPr>
          <a:xfrm>
            <a:off x="4082144" y="1076518"/>
            <a:ext cx="12228407" cy="711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Basic</a:t>
            </a:r>
            <a:r>
              <a:rPr lang="en-US" altLang="zh-CN" sz="4699" b="1" spc="469" dirty="0">
                <a:solidFill>
                  <a:srgbClr val="00307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information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9B62C2B-BBF6-E00E-0F4F-2D0AFB11B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643" y="2938714"/>
            <a:ext cx="12187791" cy="43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11198"/>
      </p:ext>
    </p:extLst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7" name="TextBox 28">
            <a:extLst>
              <a:ext uri="{FF2B5EF4-FFF2-40B4-BE49-F238E27FC236}">
                <a16:creationId xmlns:a16="http://schemas.microsoft.com/office/drawing/2014/main" id="{AC411CF6-5B1C-3229-8D3D-44412F70BE67}"/>
              </a:ext>
            </a:extLst>
          </p:cNvPr>
          <p:cNvSpPr txBox="1"/>
          <p:nvPr/>
        </p:nvSpPr>
        <p:spPr>
          <a:xfrm>
            <a:off x="4110277" y="1199642"/>
            <a:ext cx="12228407" cy="52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68"/>
              </a:lnSpc>
              <a:spcBef>
                <a:spcPct val="0"/>
              </a:spcBef>
            </a:pPr>
            <a:r>
              <a:rPr lang="en-US" altLang="zh-CN" sz="4700" b="1" spc="310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Custom Protocol Communication: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7E10F0-D50E-0D0B-97F9-7CE431FCB53E}"/>
              </a:ext>
            </a:extLst>
          </p:cNvPr>
          <p:cNvSpPr txBox="1"/>
          <p:nvPr/>
        </p:nvSpPr>
        <p:spPr>
          <a:xfrm>
            <a:off x="4425967" y="2793498"/>
            <a:ext cx="1265845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The cause of the problem:  </a:t>
            </a:r>
            <a:r>
              <a:rPr lang="en-US" altLang="zh-CN" sz="32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competition</a:t>
            </a:r>
          </a:p>
          <a:p>
            <a:endParaRPr lang="en-US" altLang="zh-CN" sz="3200" b="1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Identify each endpoint: 10000 – 19999 address</a:t>
            </a:r>
          </a:p>
          <a:p>
            <a:endParaRPr lang="en-US" altLang="zh-CN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Special ports: 10000 server ports
                       10001 The fictitious address at the time of request</a:t>
            </a:r>
          </a:p>
          <a:p>
            <a:endParaRPr lang="en-US" altLang="zh-CN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Package with added header (in parentheses):</a:t>
            </a:r>
            <a:r>
              <a:rPr lang="en-US" altLang="zh-CN" sz="32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
(Operation type | Destination | place of issue) </a:t>
            </a:r>
            <a:r>
              <a:rPr lang="en-US" altLang="zh-CN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</a:t>
            </a:r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3200" b="1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420617"/>
      </p:ext>
    </p:extLst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TextBox 28">
            <a:extLst>
              <a:ext uri="{FF2B5EF4-FFF2-40B4-BE49-F238E27FC236}">
                <a16:creationId xmlns:a16="http://schemas.microsoft.com/office/drawing/2014/main" id="{FF151ED3-D2D3-33F0-22FD-EFE1110F73D4}"/>
              </a:ext>
            </a:extLst>
          </p:cNvPr>
          <p:cNvSpPr txBox="1"/>
          <p:nvPr/>
        </p:nvSpPr>
        <p:spPr>
          <a:xfrm>
            <a:off x="4016511" y="1192722"/>
            <a:ext cx="12228407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68"/>
              </a:lnSpc>
              <a:spcBef>
                <a:spcPct val="0"/>
              </a:spcBef>
            </a:pPr>
            <a:r>
              <a:rPr lang="en-US" altLang="zh-CN" sz="4800" b="1" spc="310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Custom Protocol Communication: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F48A13-AAA6-B4E7-ED5E-2DC1C6EC070B}"/>
              </a:ext>
            </a:extLst>
          </p:cNvPr>
          <p:cNvSpPr txBox="1"/>
          <p:nvPr/>
        </p:nvSpPr>
        <p:spPr>
          <a:xfrm>
            <a:off x="4349058" y="2568933"/>
            <a:ext cx="133293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Verification method 1: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The request for the application address sent by the virtual address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The type of operation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destination</a:t>
            </a:r>
            <a:endParaRPr lang="en-US" altLang="zh-CN" sz="2800" b="1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形 7" descr="打勾的复选框 纯色填充">
            <a:extLst>
              <a:ext uri="{FF2B5EF4-FFF2-40B4-BE49-F238E27FC236}">
                <a16:creationId xmlns:a16="http://schemas.microsoft.com/office/drawing/2014/main" id="{7C533927-DFAC-1978-FCE2-7ECF6D4C4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69" y="3421024"/>
            <a:ext cx="639946" cy="639946"/>
          </a:xfrm>
          <a:prstGeom prst="rect">
            <a:avLst/>
          </a:prstGeom>
        </p:spPr>
      </p:pic>
      <p:pic>
        <p:nvPicPr>
          <p:cNvPr id="9" name="图形 8" descr="打勾的复选框 纯色填充">
            <a:extLst>
              <a:ext uri="{FF2B5EF4-FFF2-40B4-BE49-F238E27FC236}">
                <a16:creationId xmlns:a16="http://schemas.microsoft.com/office/drawing/2014/main" id="{B2D54595-7F60-6FA9-9F4E-CCB9D9B36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69" y="3817754"/>
            <a:ext cx="639946" cy="6399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3C6C7FF-558E-4214-FA18-66737EF81324}"/>
              </a:ext>
            </a:extLst>
          </p:cNvPr>
          <p:cNvSpPr txBox="1"/>
          <p:nvPr/>
        </p:nvSpPr>
        <p:spPr>
          <a:xfrm>
            <a:off x="4348201" y="4954131"/>
            <a:ext cx="98344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Verification method 2: General request (The user's address will be recorded after the thread is opened.)</a:t>
            </a:r>
            <a:endParaRPr lang="en-US" altLang="zh-CN" sz="28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The type of operation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Destination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Place of origin</a:t>
            </a:r>
          </a:p>
        </p:txBody>
      </p:sp>
      <p:pic>
        <p:nvPicPr>
          <p:cNvPr id="11" name="图形 10" descr="打勾的复选框 纯色填充">
            <a:extLst>
              <a:ext uri="{FF2B5EF4-FFF2-40B4-BE49-F238E27FC236}">
                <a16:creationId xmlns:a16="http://schemas.microsoft.com/office/drawing/2014/main" id="{5C0868E1-48E5-EDAB-B596-1A1AF58EA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69" y="5779909"/>
            <a:ext cx="639946" cy="639946"/>
          </a:xfrm>
          <a:prstGeom prst="rect">
            <a:avLst/>
          </a:prstGeom>
        </p:spPr>
      </p:pic>
      <p:pic>
        <p:nvPicPr>
          <p:cNvPr id="12" name="图形 11" descr="打勾的复选框 纯色填充">
            <a:extLst>
              <a:ext uri="{FF2B5EF4-FFF2-40B4-BE49-F238E27FC236}">
                <a16:creationId xmlns:a16="http://schemas.microsoft.com/office/drawing/2014/main" id="{38913D78-D456-0124-3591-DA0B99E13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69" y="6175926"/>
            <a:ext cx="639946" cy="639946"/>
          </a:xfrm>
          <a:prstGeom prst="rect">
            <a:avLst/>
          </a:prstGeom>
        </p:spPr>
      </p:pic>
      <p:pic>
        <p:nvPicPr>
          <p:cNvPr id="13" name="图形 12" descr="打勾的复选框 纯色填充">
            <a:extLst>
              <a:ext uri="{FF2B5EF4-FFF2-40B4-BE49-F238E27FC236}">
                <a16:creationId xmlns:a16="http://schemas.microsoft.com/office/drawing/2014/main" id="{4E501488-27D8-C415-E9DB-9BD0B2103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4039" y="6560954"/>
            <a:ext cx="639946" cy="6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18062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3F2DAB-5C14-8FFD-3124-8FD5ECA40549}"/>
              </a:ext>
            </a:extLst>
          </p:cNvPr>
          <p:cNvSpPr txBox="1"/>
          <p:nvPr/>
        </p:nvSpPr>
        <p:spPr>
          <a:xfrm>
            <a:off x="4100381" y="626077"/>
            <a:ext cx="12463153" cy="172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310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Error Packet Handling </a:t>
            </a:r>
          </a:p>
          <a:p>
            <a:pPr marL="0" marR="0" lvl="0" indent="0" algn="l" defTabSz="914400" rtl="0" eaLnBrk="1" fontAlgn="auto" latinLnBrk="0" hangingPunct="1">
              <a:lnSpc>
                <a:spcPts val="396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310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(Active Exit from Competition):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DE7132-5D33-76EE-A52A-B2416B7DE0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00"/>
          <a:stretch/>
        </p:blipFill>
        <p:spPr>
          <a:xfrm>
            <a:off x="4495800" y="2886006"/>
            <a:ext cx="11610975" cy="62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01204"/>
      </p:ext>
    </p:ext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D6D756-DFB1-1CD4-19E9-2AFE2B4029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59" b="-50628"/>
          <a:stretch/>
        </p:blipFill>
        <p:spPr>
          <a:xfrm>
            <a:off x="4386534" y="2886006"/>
            <a:ext cx="11610975" cy="100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28926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FDBB9A47-2DB8-04C6-65FD-59A09F72E4DE}"/>
              </a:ext>
            </a:extLst>
          </p:cNvPr>
          <p:cNvSpPr txBox="1"/>
          <p:nvPr/>
        </p:nvSpPr>
        <p:spPr>
          <a:xfrm>
            <a:off x="4082144" y="1076518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Pre-login process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70A044-9BE7-77B1-6269-E2D6218EB9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37"/>
          <a:stretch/>
        </p:blipFill>
        <p:spPr>
          <a:xfrm>
            <a:off x="4378118" y="1920147"/>
            <a:ext cx="10633282" cy="821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790"/>
      </p:ext>
    </p:extLst>
  </p:cSld>
  <p:clrMapOvr>
    <a:masterClrMapping/>
  </p:clrMapOvr>
  <p:transition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CE0697C3-8E0C-2D6F-C0CD-27482100457E}"/>
              </a:ext>
            </a:extLst>
          </p:cNvPr>
          <p:cNvSpPr txBox="1"/>
          <p:nvPr/>
        </p:nvSpPr>
        <p:spPr>
          <a:xfrm>
            <a:off x="4082144" y="1076518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Post-login process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468925-5973-BC42-FB80-C131A22212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63"/>
          <a:stretch/>
        </p:blipFill>
        <p:spPr>
          <a:xfrm>
            <a:off x="4236650" y="2400299"/>
            <a:ext cx="11079550" cy="760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068"/>
      </p:ext>
    </p:extLst>
  </p:cSld>
  <p:clrMapOvr>
    <a:masterClrMapping/>
  </p:clrMapOvr>
  <p:transition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CE0697C3-8E0C-2D6F-C0CD-27482100457E}"/>
              </a:ext>
            </a:extLst>
          </p:cNvPr>
          <p:cNvSpPr txBox="1"/>
          <p:nvPr/>
        </p:nvSpPr>
        <p:spPr>
          <a:xfrm>
            <a:off x="4082144" y="1076518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Post-login process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30C10B-564D-C014-0916-7BA7ACA5F3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63" r="59532" b="37919"/>
          <a:stretch/>
        </p:blipFill>
        <p:spPr>
          <a:xfrm>
            <a:off x="4105004" y="2400299"/>
            <a:ext cx="4483716" cy="14733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B08FE44-1C16-4D6B-4C3D-86DBE477C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004" y="4076700"/>
            <a:ext cx="8918709" cy="53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54315"/>
      </p:ext>
    </p:extLst>
  </p:cSld>
  <p:clrMapOvr>
    <a:masterClrMapping/>
  </p:clrMapOvr>
  <p:transition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CE0697C3-8E0C-2D6F-C0CD-27482100457E}"/>
              </a:ext>
            </a:extLst>
          </p:cNvPr>
          <p:cNvSpPr txBox="1"/>
          <p:nvPr/>
        </p:nvSpPr>
        <p:spPr>
          <a:xfrm>
            <a:off x="4082144" y="1076518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Post-login process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468925-5973-BC42-FB80-C131A22212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63"/>
          <a:stretch/>
        </p:blipFill>
        <p:spPr>
          <a:xfrm>
            <a:off x="4236650" y="2400299"/>
            <a:ext cx="11079550" cy="760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82474"/>
      </p:ext>
    </p:extLst>
  </p:cSld>
  <p:clrMapOvr>
    <a:masterClrMapping/>
  </p:clrMapOvr>
  <p:transition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AutoShape 13">
            <a:extLst>
              <a:ext uri="{FF2B5EF4-FFF2-40B4-BE49-F238E27FC236}">
                <a16:creationId xmlns:a16="http://schemas.microsoft.com/office/drawing/2014/main" id="{75487F88-5114-6599-E4F3-B737A90D0219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AutoShape 14">
            <a:extLst>
              <a:ext uri="{FF2B5EF4-FFF2-40B4-BE49-F238E27FC236}">
                <a16:creationId xmlns:a16="http://schemas.microsoft.com/office/drawing/2014/main" id="{1E08C7F0-D704-5325-32E9-871529EFEE81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AutoShape 15">
            <a:extLst>
              <a:ext uri="{FF2B5EF4-FFF2-40B4-BE49-F238E27FC236}">
                <a16:creationId xmlns:a16="http://schemas.microsoft.com/office/drawing/2014/main" id="{5B3DA94C-8E34-3E9B-42DE-7DB9260866E0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18">
            <a:extLst>
              <a:ext uri="{FF2B5EF4-FFF2-40B4-BE49-F238E27FC236}">
                <a16:creationId xmlns:a16="http://schemas.microsoft.com/office/drawing/2014/main" id="{73007B30-9A25-FC4A-E2A0-148DC7B6782D}"/>
              </a:ext>
            </a:extLst>
          </p:cNvPr>
          <p:cNvGrpSpPr/>
          <p:nvPr/>
        </p:nvGrpSpPr>
        <p:grpSpPr>
          <a:xfrm rot="-5400000">
            <a:off x="1363525" y="1446792"/>
            <a:ext cx="1054911" cy="3798794"/>
            <a:chOff x="0" y="0"/>
            <a:chExt cx="277837" cy="1000505"/>
          </a:xfrm>
        </p:grpSpPr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AA4C4485-8C66-5998-99F2-BD5E252E8E09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5E3B005C-D14C-544C-E9A1-22648CE81B6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004FD1E5-8E06-EA5F-62A4-24E77C1BE651}"/>
              </a:ext>
            </a:extLst>
          </p:cNvPr>
          <p:cNvSpPr txBox="1"/>
          <p:nvPr/>
        </p:nvSpPr>
        <p:spPr>
          <a:xfrm>
            <a:off x="-457200" y="2873449"/>
            <a:ext cx="4543726" cy="10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altLang="zh-CN" sz="2800" b="1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800" b="1" spc="640" dirty="0">
              <a:solidFill>
                <a:srgbClr val="3043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8F52F8BE-FDC8-55F4-5AC4-04C21C903B8F}"/>
              </a:ext>
            </a:extLst>
          </p:cNvPr>
          <p:cNvSpPr txBox="1"/>
          <p:nvPr/>
        </p:nvSpPr>
        <p:spPr>
          <a:xfrm>
            <a:off x="304805" y="4076700"/>
            <a:ext cx="2781296" cy="787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14">
            <a:extLst>
              <a:ext uri="{FF2B5EF4-FFF2-40B4-BE49-F238E27FC236}">
                <a16:creationId xmlns:a16="http://schemas.microsoft.com/office/drawing/2014/main" id="{B22C5A80-5D07-C7A9-1216-3EA914291382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A8ADF13-FA35-29AB-2E21-0BF3D9346F97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0DAA66A-7AFA-7B51-BDA4-8FE9AF473573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939685A9-798F-6032-4314-A4208ABF3F3C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625677AE-15DA-76F7-6B8A-B9B2C2464119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黑白色的标志&#10;&#10;低可信度描述已自动生成">
            <a:extLst>
              <a:ext uri="{FF2B5EF4-FFF2-40B4-BE49-F238E27FC236}">
                <a16:creationId xmlns:a16="http://schemas.microsoft.com/office/drawing/2014/main" id="{305C3F3F-2112-7D05-6307-40D7F1CE0B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CE0697C3-8E0C-2D6F-C0CD-27482100457E}"/>
              </a:ext>
            </a:extLst>
          </p:cNvPr>
          <p:cNvSpPr txBox="1"/>
          <p:nvPr/>
        </p:nvSpPr>
        <p:spPr>
          <a:xfrm>
            <a:off x="4082144" y="1076518"/>
            <a:ext cx="12228407" cy="148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Double-ended architecture</a:t>
            </a:r>
          </a:p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71F00AF-0486-327B-DD1A-46799AA1A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792" y="2818733"/>
            <a:ext cx="11890375" cy="357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78258"/>
      </p:ext>
    </p:extLst>
  </p:cSld>
  <p:clrMapOvr>
    <a:masterClrMapping/>
  </p:clrMapOvr>
  <p:transition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‘disk.txt’ analog disk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75BD0C1-1FF6-1341-6FAA-6AE9A9899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559326"/>
            <a:ext cx="12298353" cy="6282436"/>
          </a:xfrm>
          <a:prstGeom prst="rect">
            <a:avLst/>
          </a:prstGeom>
        </p:spPr>
      </p:pic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3B809F-D66E-D813-0E03-CAA433F815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575" y="2196777"/>
            <a:ext cx="15214809" cy="58790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File System Infrastructure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37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Dynamic expansion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B485E3-BFFF-E7EA-28E7-71D5883F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347" y="1929220"/>
            <a:ext cx="8382000" cy="8357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879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Project File System Structure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56FAF8F-B6F0-0260-BA2D-493F42C22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583" y="2413159"/>
            <a:ext cx="14907503" cy="692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36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4C9FE528-9AF5-1781-88D8-C55F2593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594" y="800100"/>
            <a:ext cx="11111691" cy="912202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B8CDF-2EC0-83EA-9A0E-A6BBE180EE1B}"/>
              </a:ext>
            </a:extLst>
          </p:cNvPr>
          <p:cNvSpPr/>
          <p:nvPr/>
        </p:nvSpPr>
        <p:spPr>
          <a:xfrm>
            <a:off x="9296400" y="7048500"/>
            <a:ext cx="838200" cy="533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39CE0E-C28A-3C95-759B-E3FCA5AE5E3B}"/>
              </a:ext>
            </a:extLst>
          </p:cNvPr>
          <p:cNvSpPr/>
          <p:nvPr/>
        </p:nvSpPr>
        <p:spPr>
          <a:xfrm>
            <a:off x="7924800" y="5219699"/>
            <a:ext cx="838200" cy="609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EFB556-B572-36F2-90EA-831748FE9ACE}"/>
              </a:ext>
            </a:extLst>
          </p:cNvPr>
          <p:cNvSpPr/>
          <p:nvPr/>
        </p:nvSpPr>
        <p:spPr>
          <a:xfrm>
            <a:off x="11887200" y="1796587"/>
            <a:ext cx="2590800" cy="927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889BDF-CB36-55B7-D00E-F74609E400C0}"/>
              </a:ext>
            </a:extLst>
          </p:cNvPr>
          <p:cNvSpPr/>
          <p:nvPr/>
        </p:nvSpPr>
        <p:spPr>
          <a:xfrm>
            <a:off x="13868400" y="7429500"/>
            <a:ext cx="838200" cy="53340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6BA242-D633-A22F-D3DD-9EA1CA9F1EEC}"/>
              </a:ext>
            </a:extLst>
          </p:cNvPr>
          <p:cNvSpPr/>
          <p:nvPr/>
        </p:nvSpPr>
        <p:spPr>
          <a:xfrm>
            <a:off x="16416567" y="7581900"/>
            <a:ext cx="652233" cy="2667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Permission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579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Underlying Functions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EF5C4C4-5169-22CE-19E6-1A5533979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160" y="2196778"/>
            <a:ext cx="9520238" cy="634009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36AF064-820F-5B85-82D6-BD18646F8C24}"/>
              </a:ext>
            </a:extLst>
          </p:cNvPr>
          <p:cNvSpPr/>
          <p:nvPr/>
        </p:nvSpPr>
        <p:spPr>
          <a:xfrm>
            <a:off x="4010160" y="4076700"/>
            <a:ext cx="9520238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012D18-2F2A-737F-3FCF-6E198756A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1764" y="6312261"/>
            <a:ext cx="4294270" cy="2619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0493F2-568C-2E4F-B1DB-500CADDD7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5299" y="972988"/>
            <a:ext cx="4267200" cy="52387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59B83A2-8A18-ED7B-CB09-60D12266B460}"/>
              </a:ext>
            </a:extLst>
          </p:cNvPr>
          <p:cNvSpPr/>
          <p:nvPr/>
        </p:nvSpPr>
        <p:spPr>
          <a:xfrm>
            <a:off x="13741764" y="972988"/>
            <a:ext cx="4357730" cy="8194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64FDFEA-588A-BDF4-4FF7-6A175976099E}"/>
              </a:ext>
            </a:extLst>
          </p:cNvPr>
          <p:cNvCxnSpPr/>
          <p:nvPr/>
        </p:nvCxnSpPr>
        <p:spPr>
          <a:xfrm flipV="1">
            <a:off x="13335000" y="4076700"/>
            <a:ext cx="609600" cy="3048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8ECC7-56B0-AF6A-32FA-C3D128627B10}"/>
              </a:ext>
            </a:extLst>
          </p:cNvPr>
          <p:cNvSpPr txBox="1"/>
          <p:nvPr/>
        </p:nvSpPr>
        <p:spPr>
          <a:xfrm>
            <a:off x="4736552" y="8648700"/>
            <a:ext cx="75667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Allow files and folders with the same name in the same directory</a:t>
            </a:r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991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Large file reading and writing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F18AC64-8014-F253-8E3F-24931E21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554" y="2868936"/>
            <a:ext cx="7101959" cy="34267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E613FB2-EC73-8555-2B6E-A61F34555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448" y="6817690"/>
            <a:ext cx="11849731" cy="217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5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Snapshot Recovery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698B7BFB-BA98-77BA-4558-7BC824293A3D}"/>
              </a:ext>
            </a:extLst>
          </p:cNvPr>
          <p:cNvSpPr>
            <a:spLocks/>
          </p:cNvSpPr>
          <p:nvPr/>
        </p:nvSpPr>
        <p:spPr>
          <a:xfrm>
            <a:off x="12115800" y="6547221"/>
            <a:ext cx="5334000" cy="1870224"/>
          </a:xfrm>
          <a:custGeom>
            <a:avLst/>
            <a:gdLst/>
            <a:ahLst/>
            <a:cxnLst/>
            <a:rect l="l" t="t" r="r" b="b"/>
            <a:pathLst>
              <a:path w="1547051" h="1159332">
                <a:moveTo>
                  <a:pt x="0" y="0"/>
                </a:moveTo>
                <a:lnTo>
                  <a:pt x="1547051" y="0"/>
                </a:lnTo>
                <a:lnTo>
                  <a:pt x="1547051" y="1159332"/>
                </a:lnTo>
                <a:lnTo>
                  <a:pt x="0" y="1159332"/>
                </a:lnTo>
                <a:close/>
              </a:path>
            </a:pathLst>
          </a:custGeom>
          <a:solidFill>
            <a:srgbClr val="AAC2E2"/>
          </a:solidFill>
        </p:spPr>
        <p:txBody>
          <a:bodyPr/>
          <a:lstStyle/>
          <a:p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grpSp>
        <p:nvGrpSpPr>
          <p:cNvPr id="10" name="Group 23">
            <a:extLst>
              <a:ext uri="{FF2B5EF4-FFF2-40B4-BE49-F238E27FC236}">
                <a16:creationId xmlns:a16="http://schemas.microsoft.com/office/drawing/2014/main" id="{F4F55752-E622-F233-D280-7654A6F389BC}"/>
              </a:ext>
            </a:extLst>
          </p:cNvPr>
          <p:cNvGrpSpPr>
            <a:grpSpLocks/>
          </p:cNvGrpSpPr>
          <p:nvPr/>
        </p:nvGrpSpPr>
        <p:grpSpPr>
          <a:xfrm>
            <a:off x="12115800" y="3082551"/>
            <a:ext cx="5334000" cy="2582189"/>
            <a:chOff x="0" y="0"/>
            <a:chExt cx="1547051" cy="1159332"/>
          </a:xfrm>
        </p:grpSpPr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07578FE1-C872-5DD3-7515-4EA26B0D98B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547051" cy="1159332"/>
            </a:xfrm>
            <a:custGeom>
              <a:avLst/>
              <a:gdLst/>
              <a:ahLst/>
              <a:cxnLst/>
              <a:rect l="l" t="t" r="r" b="b"/>
              <a:pathLst>
                <a:path w="1547051" h="1159332">
                  <a:moveTo>
                    <a:pt x="0" y="0"/>
                  </a:moveTo>
                  <a:lnTo>
                    <a:pt x="1547051" y="0"/>
                  </a:lnTo>
                  <a:lnTo>
                    <a:pt x="1547051" y="1159332"/>
                  </a:lnTo>
                  <a:lnTo>
                    <a:pt x="0" y="1159332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  <p:sp>
          <p:nvSpPr>
            <p:cNvPr id="12" name="TextBox 25">
              <a:extLst>
                <a:ext uri="{FF2B5EF4-FFF2-40B4-BE49-F238E27FC236}">
                  <a16:creationId xmlns:a16="http://schemas.microsoft.com/office/drawing/2014/main" id="{9977ED2B-CA38-9C58-54D9-71D5BCB958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 dirty="0">
                <a:latin typeface="SimSun-ExtB" panose="02010609060101010101" pitchFamily="49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BA42448-8064-872C-E897-720F039BE1A0}"/>
              </a:ext>
            </a:extLst>
          </p:cNvPr>
          <p:cNvSpPr txBox="1"/>
          <p:nvPr/>
        </p:nvSpPr>
        <p:spPr>
          <a:xfrm>
            <a:off x="12251213" y="3216176"/>
            <a:ext cx="533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When a backup operation is performed:</a:t>
            </a:r>
          </a:p>
          <a:p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Hash is updated only at the first change operation on the file.</a:t>
            </a:r>
          </a:p>
          <a:p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But log is logged at every operation.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6EEA271-0CC4-A9D9-1DD4-7F3A1237E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390" y="2912095"/>
            <a:ext cx="6696075" cy="55053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6BF4E6B-F210-5912-81B2-5BADCCD32EBD}"/>
              </a:ext>
            </a:extLst>
          </p:cNvPr>
          <p:cNvSpPr txBox="1"/>
          <p:nvPr/>
        </p:nvSpPr>
        <p:spPr>
          <a:xfrm>
            <a:off x="12284860" y="6819900"/>
            <a:ext cx="52015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Improve backup recovery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Save disk space</a:t>
            </a:r>
          </a:p>
          <a:p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4260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9525" y="435631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362417" y="2548154"/>
            <a:ext cx="1054911" cy="3798794"/>
            <a:chOff x="0" y="0"/>
            <a:chExt cx="277837" cy="10005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3009900"/>
            <a:ext cx="3369036" cy="793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99"/>
              </a:lnSpc>
              <a:spcBef>
                <a:spcPct val="0"/>
              </a:spcBef>
            </a:pPr>
            <a:r>
              <a:rPr lang="en-US" altLang="zh-CN" sz="2499" u="none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lang="en-US" sz="2499" u="none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8326" y="3924300"/>
            <a:ext cx="3798795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96"/>
              </a:lnSpc>
              <a:spcBef>
                <a:spcPct val="0"/>
              </a:spcBef>
            </a:pPr>
            <a:r>
              <a:rPr lang="en-US" sz="2800" b="1" u="none" spc="640" dirty="0">
                <a:solidFill>
                  <a:srgbClr val="3043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</a:p>
        </p:txBody>
      </p:sp>
      <p:pic>
        <p:nvPicPr>
          <p:cNvPr id="60" name="图片 59" descr="黑白色的标志&#10;&#10;低可信度描述已自动生成">
            <a:extLst>
              <a:ext uri="{FF2B5EF4-FFF2-40B4-BE49-F238E27FC236}">
                <a16:creationId xmlns:a16="http://schemas.microsoft.com/office/drawing/2014/main" id="{F6F21306-8A60-4ADC-B580-3F275AF74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28" name="AutoShape 13">
            <a:extLst>
              <a:ext uri="{FF2B5EF4-FFF2-40B4-BE49-F238E27FC236}">
                <a16:creationId xmlns:a16="http://schemas.microsoft.com/office/drawing/2014/main" id="{05B8B7BE-EEBE-EABC-415C-2D05DFEA7BC2}"/>
              </a:ext>
            </a:extLst>
          </p:cNvPr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14">
            <a:extLst>
              <a:ext uri="{FF2B5EF4-FFF2-40B4-BE49-F238E27FC236}">
                <a16:creationId xmlns:a16="http://schemas.microsoft.com/office/drawing/2014/main" id="{166B0E8E-054B-A4CE-DEAE-FE91382F46EB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490B836A-7172-3AB0-E845-678B72D8EB88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AutoShape 14">
            <a:extLst>
              <a:ext uri="{FF2B5EF4-FFF2-40B4-BE49-F238E27FC236}">
                <a16:creationId xmlns:a16="http://schemas.microsoft.com/office/drawing/2014/main" id="{2A15352B-5E47-4745-2118-E6ECDD9A1756}"/>
              </a:ext>
            </a:extLst>
          </p:cNvPr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15">
            <a:extLst>
              <a:ext uri="{FF2B5EF4-FFF2-40B4-BE49-F238E27FC236}">
                <a16:creationId xmlns:a16="http://schemas.microsoft.com/office/drawing/2014/main" id="{8A3992A6-9C79-E353-7CCB-DBC5FE6131BC}"/>
              </a:ext>
            </a:extLst>
          </p:cNvPr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AEE50816-E0BE-F5C4-F3A3-2B9140726E9B}"/>
              </a:ext>
            </a:extLst>
          </p:cNvPr>
          <p:cNvSpPr txBox="1"/>
          <p:nvPr/>
        </p:nvSpPr>
        <p:spPr>
          <a:xfrm>
            <a:off x="587740" y="8387892"/>
            <a:ext cx="2086058" cy="120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altLang="zh-CN" sz="2499" spc="499" dirty="0">
              <a:solidFill>
                <a:srgbClr val="EEF2F5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ts val="3199"/>
              </a:lnSpc>
            </a:pP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72938644-B2D7-68F2-6F95-8795FCA8D729}"/>
              </a:ext>
            </a:extLst>
          </p:cNvPr>
          <p:cNvSpPr txBox="1"/>
          <p:nvPr/>
        </p:nvSpPr>
        <p:spPr>
          <a:xfrm>
            <a:off x="4082144" y="1076518"/>
            <a:ext cx="12228407" cy="7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5"/>
              </a:lnSpc>
              <a:spcBef>
                <a:spcPct val="0"/>
              </a:spcBef>
            </a:pPr>
            <a:r>
              <a:rPr lang="en-US" altLang="zh-CN" sz="4699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Snapshot Recovery</a:t>
            </a:r>
            <a:endParaRPr lang="en-US" sz="4699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43F854A-C23D-0D6D-33C7-976C2B5459C7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0">
            <a:extLst>
              <a:ext uri="{FF2B5EF4-FFF2-40B4-BE49-F238E27FC236}">
                <a16:creationId xmlns:a16="http://schemas.microsoft.com/office/drawing/2014/main" id="{2CD85141-7B14-FD6B-0B57-2334CD81B799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E5CACC9-2DA0-009A-7495-B643DFA038BB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1F86C5-6488-C9AA-E865-4A56963D4CB6}"/>
              </a:ext>
            </a:extLst>
          </p:cNvPr>
          <p:cNvSpPr txBox="1"/>
          <p:nvPr/>
        </p:nvSpPr>
        <p:spPr>
          <a:xfrm>
            <a:off x="12294014" y="1153421"/>
            <a:ext cx="4629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Log format: </a:t>
            </a: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opcode, path;</a:t>
            </a:r>
            <a:endParaRPr lang="en-US" altLang="zh-CN" sz="24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23">
            <a:extLst>
              <a:ext uri="{FF2B5EF4-FFF2-40B4-BE49-F238E27FC236}">
                <a16:creationId xmlns:a16="http://schemas.microsoft.com/office/drawing/2014/main" id="{8D2DAA4D-EFB5-274D-FB16-2C105FCDC4E3}"/>
              </a:ext>
            </a:extLst>
          </p:cNvPr>
          <p:cNvGrpSpPr>
            <a:grpSpLocks/>
          </p:cNvGrpSpPr>
          <p:nvPr/>
        </p:nvGrpSpPr>
        <p:grpSpPr>
          <a:xfrm>
            <a:off x="4627058" y="2296488"/>
            <a:ext cx="4082568" cy="7419012"/>
            <a:chOff x="0" y="0"/>
            <a:chExt cx="1547051" cy="1159332"/>
          </a:xfrm>
        </p:grpSpPr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E369523E-D057-F9CB-065A-307DA47A4142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547051" cy="1159332"/>
            </a:xfrm>
            <a:custGeom>
              <a:avLst/>
              <a:gdLst/>
              <a:ahLst/>
              <a:cxnLst/>
              <a:rect l="l" t="t" r="r" b="b"/>
              <a:pathLst>
                <a:path w="1547051" h="1159332">
                  <a:moveTo>
                    <a:pt x="0" y="0"/>
                  </a:moveTo>
                  <a:lnTo>
                    <a:pt x="1547051" y="0"/>
                  </a:lnTo>
                  <a:lnTo>
                    <a:pt x="1547051" y="1159332"/>
                  </a:lnTo>
                  <a:lnTo>
                    <a:pt x="0" y="1159332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25">
              <a:extLst>
                <a:ext uri="{FF2B5EF4-FFF2-40B4-BE49-F238E27FC236}">
                  <a16:creationId xmlns:a16="http://schemas.microsoft.com/office/drawing/2014/main" id="{CB5A7375-B2A4-8D23-D433-C8145939513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20">
            <a:extLst>
              <a:ext uri="{FF2B5EF4-FFF2-40B4-BE49-F238E27FC236}">
                <a16:creationId xmlns:a16="http://schemas.microsoft.com/office/drawing/2014/main" id="{B56D15CD-7E44-A0EE-83D2-5ACCFC4027B3}"/>
              </a:ext>
            </a:extLst>
          </p:cNvPr>
          <p:cNvGrpSpPr>
            <a:grpSpLocks/>
          </p:cNvGrpSpPr>
          <p:nvPr/>
        </p:nvGrpSpPr>
        <p:grpSpPr>
          <a:xfrm>
            <a:off x="12653566" y="2623204"/>
            <a:ext cx="4386856" cy="7092296"/>
            <a:chOff x="0" y="0"/>
            <a:chExt cx="1547051" cy="1159332"/>
          </a:xfrm>
        </p:grpSpPr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0F035752-A874-7BA4-5589-7F5545FD9DA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547051" cy="1159332"/>
            </a:xfrm>
            <a:custGeom>
              <a:avLst/>
              <a:gdLst/>
              <a:ahLst/>
              <a:cxnLst/>
              <a:rect l="l" t="t" r="r" b="b"/>
              <a:pathLst>
                <a:path w="1547051" h="1159332">
                  <a:moveTo>
                    <a:pt x="0" y="0"/>
                  </a:moveTo>
                  <a:lnTo>
                    <a:pt x="1547051" y="0"/>
                  </a:lnTo>
                  <a:lnTo>
                    <a:pt x="1547051" y="1159332"/>
                  </a:lnTo>
                  <a:lnTo>
                    <a:pt x="0" y="1159332"/>
                  </a:lnTo>
                  <a:close/>
                </a:path>
              </a:pathLst>
            </a:custGeom>
            <a:solidFill>
              <a:srgbClr val="AAC2E2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22">
              <a:extLst>
                <a:ext uri="{FF2B5EF4-FFF2-40B4-BE49-F238E27FC236}">
                  <a16:creationId xmlns:a16="http://schemas.microsoft.com/office/drawing/2014/main" id="{7118AFCA-B6C2-118D-78B2-94F4CB691694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箭头: 右 16">
            <a:extLst>
              <a:ext uri="{FF2B5EF4-FFF2-40B4-BE49-F238E27FC236}">
                <a16:creationId xmlns:a16="http://schemas.microsoft.com/office/drawing/2014/main" id="{270C81AC-BA61-3EB7-A089-20B0256B3357}"/>
              </a:ext>
            </a:extLst>
          </p:cNvPr>
          <p:cNvSpPr/>
          <p:nvPr/>
        </p:nvSpPr>
        <p:spPr>
          <a:xfrm>
            <a:off x="9208433" y="4983748"/>
            <a:ext cx="3085581" cy="1291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30988F-381D-47CE-D04B-5DEB611B4C22}"/>
              </a:ext>
            </a:extLst>
          </p:cNvPr>
          <p:cNvSpPr txBox="1"/>
          <p:nvPr/>
        </p:nvSpPr>
        <p:spPr>
          <a:xfrm>
            <a:off x="4720793" y="3237316"/>
            <a:ext cx="4082567" cy="6478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0: Create folder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1: Create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2: Delete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3: Delete files in a folder which is deleted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4: Delete folder in a folder which is deleted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6: Write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7: Add user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8: Change password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92C6AB-F931-D0DF-8861-CE096206BE96}"/>
              </a:ext>
            </a:extLst>
          </p:cNvPr>
          <p:cNvSpPr txBox="1">
            <a:spLocks/>
          </p:cNvSpPr>
          <p:nvPr/>
        </p:nvSpPr>
        <p:spPr>
          <a:xfrm>
            <a:off x="12763593" y="3221093"/>
            <a:ext cx="4322352" cy="6478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0: Delete folder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1: Delete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2: Create file + write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3: Create File + Write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4: Create Folder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6: Write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7: Delete user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8: Change password</a:t>
            </a:r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C73090B-59BF-718F-79C6-F373735C1229}"/>
              </a:ext>
            </a:extLst>
          </p:cNvPr>
          <p:cNvSpPr txBox="1"/>
          <p:nvPr/>
        </p:nvSpPr>
        <p:spPr>
          <a:xfrm>
            <a:off x="4775506" y="2351001"/>
            <a:ext cx="23791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Opcode</a:t>
            </a:r>
            <a:r>
              <a:rPr lang="zh-CN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4000" b="1" dirty="0">
              <a:solidFill>
                <a:schemeClr val="bg1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7B38798-1450-24B2-31CD-321866E4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939" y="7507711"/>
            <a:ext cx="2646820" cy="256701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EB0E496-960F-790C-B294-40B663670388}"/>
              </a:ext>
            </a:extLst>
          </p:cNvPr>
          <p:cNvSpPr txBox="1"/>
          <p:nvPr/>
        </p:nvSpPr>
        <p:spPr>
          <a:xfrm>
            <a:off x="9429245" y="4621064"/>
            <a:ext cx="2249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Recovery</a:t>
            </a:r>
            <a:endParaRPr lang="en-US" altLang="zh-CN" sz="36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66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985233" y="2646642"/>
            <a:ext cx="340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0000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495623" y="2643567"/>
            <a:ext cx="3668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zh-CN" altLang="zh-CN" sz="36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917299" y="2601119"/>
            <a:ext cx="3611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。。</a:t>
            </a:r>
            <a:endParaRPr kumimoji="0" lang="zh-CN" altLang="zh-CN" sz="36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Function Overview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41EFDDF-51D2-AA18-00EC-050CCC2A5B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341" y="2394018"/>
            <a:ext cx="15159406" cy="7480163"/>
          </a:xfrm>
          <a:prstGeom prst="rect">
            <a:avLst/>
          </a:prstGeom>
        </p:spPr>
      </p:pic>
      <p:sp>
        <p:nvSpPr>
          <p:cNvPr id="45" name="TextBox 29"/>
          <p:cNvSpPr txBox="1"/>
          <p:nvPr/>
        </p:nvSpPr>
        <p:spPr>
          <a:xfrm>
            <a:off x="-7732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985233" y="2646642"/>
            <a:ext cx="340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0000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495623" y="2643567"/>
            <a:ext cx="3668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zh-CN" altLang="zh-CN" sz="36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917299" y="2601119"/>
            <a:ext cx="3611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。。</a:t>
            </a:r>
            <a:endParaRPr kumimoji="0" lang="zh-CN" altLang="zh-CN" sz="36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Functions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A90179A-6664-BED1-6EA6-4D8ED3F566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0"/>
          <a:stretch/>
        </p:blipFill>
        <p:spPr>
          <a:xfrm>
            <a:off x="5125924" y="1843097"/>
            <a:ext cx="10584270" cy="837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41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Relationship between Classes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2DD79DFE-BD6C-4953-732D-5F6A6EEC1C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4067391" y="4000382"/>
            <a:ext cx="13692289" cy="5725913"/>
          </a:xfrm>
          <a:custGeom>
            <a:avLst/>
            <a:gdLst/>
            <a:ahLst/>
            <a:cxnLst/>
            <a:rect l="l" t="t" r="r" b="b"/>
            <a:pathLst>
              <a:path w="794760" h="1109995">
                <a:moveTo>
                  <a:pt x="0" y="0"/>
                </a:moveTo>
                <a:lnTo>
                  <a:pt x="794760" y="0"/>
                </a:lnTo>
                <a:lnTo>
                  <a:pt x="794760" y="1109995"/>
                </a:lnTo>
                <a:lnTo>
                  <a:pt x="0" y="1109995"/>
                </a:lnTo>
                <a:close/>
              </a:path>
            </a:pathLst>
          </a:custGeom>
          <a:solidFill>
            <a:srgbClr val="D3E1F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38F519-1DA5-EFF0-FADB-A121122A5FC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53559" y="4563110"/>
            <a:ext cx="12258042" cy="4695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 Using C++ inheritance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 </a:t>
            </a:r>
            <a:r>
              <a:rPr kumimoji="0" lang="en-US" altLang="zh-CN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User is used as a base class </a:t>
            </a: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to store the basic information of the user and the </a:t>
            </a:r>
            <a:r>
              <a:rPr kumimoji="0" lang="en-US" altLang="zh-CN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permission information</a:t>
            </a: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 </a:t>
            </a:r>
            <a:r>
              <a:rPr kumimoji="0" lang="en-US" altLang="zh-CN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 and Teacher are used as subclasses </a:t>
            </a: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to record </a:t>
            </a:r>
            <a:r>
              <a:rPr kumimoji="0" lang="en-US" altLang="zh-CN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course information</a:t>
            </a: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 It realizes the separation of the management of permission information and user course information.</a:t>
            </a:r>
          </a:p>
        </p:txBody>
      </p:sp>
      <p:pic>
        <p:nvPicPr>
          <p:cNvPr id="14" name="图片 13" descr="User">
            <a:extLst>
              <a:ext uri="{FF2B5EF4-FFF2-40B4-BE49-F238E27FC236}">
                <a16:creationId xmlns:a16="http://schemas.microsoft.com/office/drawing/2014/main" id="{4503DB0F-FBE4-4332-826C-7A7F70A3FE0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89320" y="1714500"/>
            <a:ext cx="12070080" cy="424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65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7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4700" b="1" i="0" u="none" strike="noStrike" kern="1200" cap="none" spc="469" normalizeH="0" baseline="0" noProof="0" dirty="0" err="1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llegal</a:t>
            </a: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 input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2DD79DFE-BD6C-4953-732D-5F6A6EEC1C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4067391" y="4000382"/>
            <a:ext cx="13692289" cy="5725913"/>
          </a:xfrm>
          <a:custGeom>
            <a:avLst/>
            <a:gdLst/>
            <a:ahLst/>
            <a:cxnLst/>
            <a:rect l="l" t="t" r="r" b="b"/>
            <a:pathLst>
              <a:path w="794760" h="1109995">
                <a:moveTo>
                  <a:pt x="0" y="0"/>
                </a:moveTo>
                <a:lnTo>
                  <a:pt x="794760" y="0"/>
                </a:lnTo>
                <a:lnTo>
                  <a:pt x="794760" y="1109995"/>
                </a:lnTo>
                <a:lnTo>
                  <a:pt x="0" y="1109995"/>
                </a:lnTo>
                <a:close/>
              </a:path>
            </a:pathLst>
          </a:custGeom>
          <a:solidFill>
            <a:srgbClr val="D3E1F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411758-6A61-8D04-4E48-4ECB20FCE31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52645" y="5600700"/>
            <a:ext cx="12568555" cy="4728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 Course objects are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not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file system aware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and need to be provisioned with relevant file content information for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detecting illegal input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 Example: Teacher needs to correct students who have handed in their assignments; HW_S records the students who have handed in their assignments; avoid accessing non-existent files.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511B907-2EFD-2B79-C5B2-879ABB4EC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721" y="1290502"/>
            <a:ext cx="13469892" cy="431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50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7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H2S read-write protocol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8C1F399-D79E-7ACB-D968-6C452D70F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78" y="1797673"/>
            <a:ext cx="13008366" cy="852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0D2D9A61-4745-DD7F-E664-B0488553304F}"/>
              </a:ext>
            </a:extLst>
          </p:cNvPr>
          <p:cNvGrpSpPr/>
          <p:nvPr/>
        </p:nvGrpSpPr>
        <p:grpSpPr>
          <a:xfrm rot="-5400000">
            <a:off x="1371942" y="4609293"/>
            <a:ext cx="1054911" cy="3798794"/>
            <a:chOff x="0" y="0"/>
            <a:chExt cx="277837" cy="1000505"/>
          </a:xfrm>
        </p:grpSpPr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E6D944DE-6D11-D9C8-A132-5A8AF127D544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A6C9ACD-06D9-8CD7-E5A5-13BC8C31C19C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7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commands interface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800" b="1" spc="499" dirty="0">
                <a:solidFill>
                  <a:srgbClr val="00206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800" b="1" spc="499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E31BDA1-B184-412C-3C9D-721BD229FFC8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3">
            <a:extLst>
              <a:ext uri="{FF2B5EF4-FFF2-40B4-BE49-F238E27FC236}">
                <a16:creationId xmlns:a16="http://schemas.microsoft.com/office/drawing/2014/main" id="{77E7AB7F-AA1B-1B95-3F36-5AB1E2EE3F46}"/>
              </a:ext>
            </a:extLst>
          </p:cNvPr>
          <p:cNvGrpSpPr>
            <a:grpSpLocks/>
          </p:cNvGrpSpPr>
          <p:nvPr/>
        </p:nvGrpSpPr>
        <p:grpSpPr>
          <a:xfrm>
            <a:off x="4019974" y="2747126"/>
            <a:ext cx="5673195" cy="6627579"/>
            <a:chOff x="0" y="0"/>
            <a:chExt cx="1547051" cy="1159332"/>
          </a:xfrm>
        </p:grpSpPr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D612C18E-A6DD-FCBC-2610-108069259E09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547051" cy="1159332"/>
            </a:xfrm>
            <a:custGeom>
              <a:avLst/>
              <a:gdLst/>
              <a:ahLst/>
              <a:cxnLst/>
              <a:rect l="l" t="t" r="r" b="b"/>
              <a:pathLst>
                <a:path w="1547051" h="1159332">
                  <a:moveTo>
                    <a:pt x="0" y="0"/>
                  </a:moveTo>
                  <a:lnTo>
                    <a:pt x="1547051" y="0"/>
                  </a:lnTo>
                  <a:lnTo>
                    <a:pt x="1547051" y="1159332"/>
                  </a:lnTo>
                  <a:lnTo>
                    <a:pt x="0" y="1159332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961564CE-36C7-7E30-0261-879CA252FCE4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20">
            <a:extLst>
              <a:ext uri="{FF2B5EF4-FFF2-40B4-BE49-F238E27FC236}">
                <a16:creationId xmlns:a16="http://schemas.microsoft.com/office/drawing/2014/main" id="{3B1EB107-430E-3116-DD55-54284F3C20E2}"/>
              </a:ext>
            </a:extLst>
          </p:cNvPr>
          <p:cNvGrpSpPr>
            <a:grpSpLocks/>
          </p:cNvGrpSpPr>
          <p:nvPr/>
        </p:nvGrpSpPr>
        <p:grpSpPr>
          <a:xfrm>
            <a:off x="12418558" y="2814850"/>
            <a:ext cx="4386856" cy="6365429"/>
            <a:chOff x="0" y="0"/>
            <a:chExt cx="1547051" cy="1159332"/>
          </a:xfrm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CE24BA5A-FF2F-ED56-2B2C-173CAC3580B8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547051" cy="1159332"/>
            </a:xfrm>
            <a:custGeom>
              <a:avLst/>
              <a:gdLst/>
              <a:ahLst/>
              <a:cxnLst/>
              <a:rect l="l" t="t" r="r" b="b"/>
              <a:pathLst>
                <a:path w="1547051" h="1159332">
                  <a:moveTo>
                    <a:pt x="0" y="0"/>
                  </a:moveTo>
                  <a:lnTo>
                    <a:pt x="1547051" y="0"/>
                  </a:lnTo>
                  <a:lnTo>
                    <a:pt x="1547051" y="1159332"/>
                  </a:lnTo>
                  <a:lnTo>
                    <a:pt x="0" y="1159332"/>
                  </a:lnTo>
                  <a:close/>
                </a:path>
              </a:pathLst>
            </a:custGeom>
            <a:solidFill>
              <a:srgbClr val="AAC2E2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7A4F8ACB-C8C0-180A-32C0-3BD906DBB6F6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箭头: 右 27">
            <a:extLst>
              <a:ext uri="{FF2B5EF4-FFF2-40B4-BE49-F238E27FC236}">
                <a16:creationId xmlns:a16="http://schemas.microsoft.com/office/drawing/2014/main" id="{37BB12EB-AC66-6953-F052-AEC2C0008220}"/>
              </a:ext>
            </a:extLst>
          </p:cNvPr>
          <p:cNvSpPr/>
          <p:nvPr/>
        </p:nvSpPr>
        <p:spPr>
          <a:xfrm>
            <a:off x="10166099" y="5185056"/>
            <a:ext cx="1412262" cy="1291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D4811E-EC9D-8B8F-4D15-A7805BE9EADB}"/>
              </a:ext>
            </a:extLst>
          </p:cNvPr>
          <p:cNvSpPr txBox="1"/>
          <p:nvPr/>
        </p:nvSpPr>
        <p:spPr>
          <a:xfrm>
            <a:off x="4108702" y="2857500"/>
            <a:ext cx="5416298" cy="5831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The system commands are implemented in order to better demonstrate the file management and permission operation functions.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The prompt interface displayed on the user side is shown in the figure containing all the implemented file system functions.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E416C8-F881-DFF4-29F1-657F98B7FBDE}"/>
              </a:ext>
            </a:extLst>
          </p:cNvPr>
          <p:cNvSpPr txBox="1">
            <a:spLocks/>
          </p:cNvSpPr>
          <p:nvPr/>
        </p:nvSpPr>
        <p:spPr>
          <a:xfrm>
            <a:off x="12975865" y="3639270"/>
            <a:ext cx="3572206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AC4C0DA3-8293-2E36-622F-C0FEF5535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229" y="2657955"/>
            <a:ext cx="5973478" cy="680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68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0D2D9A61-4745-DD7F-E664-B0488553304F}"/>
              </a:ext>
            </a:extLst>
          </p:cNvPr>
          <p:cNvGrpSpPr/>
          <p:nvPr/>
        </p:nvGrpSpPr>
        <p:grpSpPr>
          <a:xfrm rot="-5400000">
            <a:off x="1371942" y="4609293"/>
            <a:ext cx="1054911" cy="3798794"/>
            <a:chOff x="0" y="0"/>
            <a:chExt cx="277837" cy="1000505"/>
          </a:xfrm>
        </p:grpSpPr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E6D944DE-6D11-D9C8-A132-5A8AF127D544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A6C9ACD-06D9-8CD7-E5A5-13BC8C31C19C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7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List of system commands</a:t>
            </a: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800" b="1" spc="499" dirty="0">
                <a:solidFill>
                  <a:srgbClr val="00206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800" b="1" spc="499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E31BDA1-B184-412C-3C9D-721BD229FFC8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F69E22C-14D1-C915-E123-C44E27F205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8"/>
          <a:stretch/>
        </p:blipFill>
        <p:spPr>
          <a:xfrm>
            <a:off x="4183743" y="2171378"/>
            <a:ext cx="13016043" cy="747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92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0D2D9A61-4745-DD7F-E664-B0488553304F}"/>
              </a:ext>
            </a:extLst>
          </p:cNvPr>
          <p:cNvGrpSpPr/>
          <p:nvPr/>
        </p:nvGrpSpPr>
        <p:grpSpPr>
          <a:xfrm rot="-5400000">
            <a:off x="1371942" y="4609293"/>
            <a:ext cx="1054911" cy="3798794"/>
            <a:chOff x="0" y="0"/>
            <a:chExt cx="277837" cy="1000505"/>
          </a:xfrm>
        </p:grpSpPr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E6D944DE-6D11-D9C8-A132-5A8AF127D544}"/>
                </a:ext>
              </a:extLst>
            </p:cNvPr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A6C9ACD-06D9-8CD7-E5A5-13BC8C31C19C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3309588" cy="1487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7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Permission Determination</a:t>
            </a:r>
          </a:p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4700" b="1" spc="469" dirty="0">
              <a:solidFill>
                <a:srgbClr val="003070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800" b="1" spc="499" dirty="0">
                <a:solidFill>
                  <a:srgbClr val="00206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800" b="1" spc="499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E31BDA1-B184-412C-3C9D-721BD229FFC8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3">
            <a:extLst>
              <a:ext uri="{FF2B5EF4-FFF2-40B4-BE49-F238E27FC236}">
                <a16:creationId xmlns:a16="http://schemas.microsoft.com/office/drawing/2014/main" id="{99CB3126-D694-35C6-AB17-EFD5FE70E343}"/>
              </a:ext>
            </a:extLst>
          </p:cNvPr>
          <p:cNvGrpSpPr/>
          <p:nvPr/>
        </p:nvGrpSpPr>
        <p:grpSpPr>
          <a:xfrm>
            <a:off x="4375635" y="2019300"/>
            <a:ext cx="1012971" cy="919540"/>
            <a:chOff x="0" y="0"/>
            <a:chExt cx="1682640" cy="1024231"/>
          </a:xfrm>
        </p:grpSpPr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47EC0616-E6A3-E954-E136-717DFFABD98B}"/>
                </a:ext>
              </a:extLst>
            </p:cNvPr>
            <p:cNvSpPr/>
            <p:nvPr/>
          </p:nvSpPr>
          <p:spPr>
            <a:xfrm>
              <a:off x="0" y="0"/>
              <a:ext cx="1682640" cy="1024231"/>
            </a:xfrm>
            <a:custGeom>
              <a:avLst/>
              <a:gdLst/>
              <a:ahLst/>
              <a:cxnLst/>
              <a:rect l="l" t="t" r="r" b="b"/>
              <a:pathLst>
                <a:path w="1682640" h="1024231">
                  <a:moveTo>
                    <a:pt x="0" y="0"/>
                  </a:moveTo>
                  <a:lnTo>
                    <a:pt x="1682640" y="0"/>
                  </a:lnTo>
                  <a:lnTo>
                    <a:pt x="1682640" y="1024231"/>
                  </a:lnTo>
                  <a:lnTo>
                    <a:pt x="0" y="1024231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9B69EE34-3BF4-6182-D4E1-A9FBBEA6E77B}"/>
                </a:ext>
              </a:extLst>
            </p:cNvPr>
            <p:cNvSpPr txBox="1"/>
            <p:nvPr/>
          </p:nvSpPr>
          <p:spPr>
            <a:xfrm>
              <a:off x="0" y="-19050"/>
              <a:ext cx="1682640" cy="1043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id="{76AF0189-0004-73C2-2BA4-B5031FAB249D}"/>
              </a:ext>
            </a:extLst>
          </p:cNvPr>
          <p:cNvGrpSpPr/>
          <p:nvPr/>
        </p:nvGrpSpPr>
        <p:grpSpPr>
          <a:xfrm>
            <a:off x="4375634" y="4532493"/>
            <a:ext cx="1012971" cy="919540"/>
            <a:chOff x="0" y="0"/>
            <a:chExt cx="1682640" cy="102423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AD936E05-1CFF-BD78-C635-96EBC99EA7AA}"/>
                </a:ext>
              </a:extLst>
            </p:cNvPr>
            <p:cNvSpPr/>
            <p:nvPr/>
          </p:nvSpPr>
          <p:spPr>
            <a:xfrm>
              <a:off x="0" y="0"/>
              <a:ext cx="1682640" cy="1024231"/>
            </a:xfrm>
            <a:custGeom>
              <a:avLst/>
              <a:gdLst/>
              <a:ahLst/>
              <a:cxnLst/>
              <a:rect l="l" t="t" r="r" b="b"/>
              <a:pathLst>
                <a:path w="1682640" h="1024231">
                  <a:moveTo>
                    <a:pt x="0" y="0"/>
                  </a:moveTo>
                  <a:lnTo>
                    <a:pt x="1682640" y="0"/>
                  </a:lnTo>
                  <a:lnTo>
                    <a:pt x="1682640" y="1024231"/>
                  </a:lnTo>
                  <a:lnTo>
                    <a:pt x="0" y="102423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5">
              <a:extLst>
                <a:ext uri="{FF2B5EF4-FFF2-40B4-BE49-F238E27FC236}">
                  <a16:creationId xmlns:a16="http://schemas.microsoft.com/office/drawing/2014/main" id="{A477A54C-B6BC-5F53-6F7A-C4AF013C8F1E}"/>
                </a:ext>
              </a:extLst>
            </p:cNvPr>
            <p:cNvSpPr txBox="1"/>
            <p:nvPr/>
          </p:nvSpPr>
          <p:spPr>
            <a:xfrm>
              <a:off x="0" y="-19050"/>
              <a:ext cx="1682640" cy="10432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3">
            <a:extLst>
              <a:ext uri="{FF2B5EF4-FFF2-40B4-BE49-F238E27FC236}">
                <a16:creationId xmlns:a16="http://schemas.microsoft.com/office/drawing/2014/main" id="{00AE4391-D7B9-F02F-FDCE-074084E3F8EC}"/>
              </a:ext>
            </a:extLst>
          </p:cNvPr>
          <p:cNvGrpSpPr/>
          <p:nvPr/>
        </p:nvGrpSpPr>
        <p:grpSpPr>
          <a:xfrm>
            <a:off x="4375633" y="7271290"/>
            <a:ext cx="1012971" cy="919540"/>
            <a:chOff x="0" y="0"/>
            <a:chExt cx="1682640" cy="1024231"/>
          </a:xfrm>
        </p:grpSpPr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B0960B69-AB42-C516-5362-13457BFF3383}"/>
                </a:ext>
              </a:extLst>
            </p:cNvPr>
            <p:cNvSpPr/>
            <p:nvPr/>
          </p:nvSpPr>
          <p:spPr>
            <a:xfrm>
              <a:off x="0" y="0"/>
              <a:ext cx="1682640" cy="1024231"/>
            </a:xfrm>
            <a:custGeom>
              <a:avLst/>
              <a:gdLst/>
              <a:ahLst/>
              <a:cxnLst/>
              <a:rect l="l" t="t" r="r" b="b"/>
              <a:pathLst>
                <a:path w="1682640" h="1024231">
                  <a:moveTo>
                    <a:pt x="0" y="0"/>
                  </a:moveTo>
                  <a:lnTo>
                    <a:pt x="1682640" y="0"/>
                  </a:lnTo>
                  <a:lnTo>
                    <a:pt x="1682640" y="1024231"/>
                  </a:lnTo>
                  <a:lnTo>
                    <a:pt x="0" y="1024231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5">
              <a:extLst>
                <a:ext uri="{FF2B5EF4-FFF2-40B4-BE49-F238E27FC236}">
                  <a16:creationId xmlns:a16="http://schemas.microsoft.com/office/drawing/2014/main" id="{DC5245D2-141D-07E1-FDB6-9AA5891F4BF3}"/>
                </a:ext>
              </a:extLst>
            </p:cNvPr>
            <p:cNvSpPr txBox="1"/>
            <p:nvPr/>
          </p:nvSpPr>
          <p:spPr>
            <a:xfrm>
              <a:off x="0" y="-19050"/>
              <a:ext cx="1682640" cy="1043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5964D1EC-79DC-4C1D-C865-D913795B1028}"/>
              </a:ext>
            </a:extLst>
          </p:cNvPr>
          <p:cNvSpPr txBox="1"/>
          <p:nvPr/>
        </p:nvSpPr>
        <p:spPr>
          <a:xfrm>
            <a:off x="5643732" y="2166109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If administrator:</a:t>
            </a:r>
            <a:endParaRPr lang="zh-CN" altLang="en-US" sz="3600" b="1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D3513BC-2B90-AE7A-7F5C-44432DC13537}"/>
              </a:ext>
            </a:extLst>
          </p:cNvPr>
          <p:cNvSpPr txBox="1"/>
          <p:nvPr/>
        </p:nvSpPr>
        <p:spPr>
          <a:xfrm>
            <a:off x="5643731" y="2926900"/>
            <a:ext cx="10918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kern="1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Can have all file operation permissions, permissions to change others' permissions, and permissions to give users the ability to change others' permissions.</a:t>
            </a:r>
            <a:endParaRPr lang="zh-CN" altLang="en-US" sz="32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E17599A-4F4F-201B-39D8-460480A63E3F}"/>
              </a:ext>
            </a:extLst>
          </p:cNvPr>
          <p:cNvSpPr txBox="1"/>
          <p:nvPr/>
        </p:nvSpPr>
        <p:spPr>
          <a:xfrm>
            <a:off x="5643731" y="4620892"/>
            <a:ext cx="115774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Checks the permissions of a specific file in this path for this specified user.</a:t>
            </a:r>
            <a:endParaRPr lang="zh-CN" altLang="en-US" sz="3200" b="1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3B1AB56-DBF9-F07B-97C3-BEB81A9365A4}"/>
              </a:ext>
            </a:extLst>
          </p:cNvPr>
          <p:cNvSpPr txBox="1"/>
          <p:nvPr/>
        </p:nvSpPr>
        <p:spPr>
          <a:xfrm>
            <a:off x="5643731" y="7407894"/>
            <a:ext cx="12087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Check if the corresponding specific permissions are available for the </a:t>
            </a:r>
            <a:r>
              <a:rPr lang="en-US" altLang="zh-CN" sz="32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-node in this location.</a:t>
            </a:r>
            <a:endParaRPr lang="zh-CN" altLang="en-US" sz="3200" b="1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29B9B4EE-8C5C-B687-05C6-500D7A83B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431" y="5762099"/>
            <a:ext cx="9731839" cy="15454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699789F-6D66-2210-54DB-423112A8E5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6715"/>
          <a:stretch/>
        </p:blipFill>
        <p:spPr>
          <a:xfrm>
            <a:off x="5574753" y="8582062"/>
            <a:ext cx="12087407" cy="154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53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0D2D9A61-4745-DD7F-E664-B0488553304F}"/>
              </a:ext>
            </a:extLst>
          </p:cNvPr>
          <p:cNvGrpSpPr/>
          <p:nvPr/>
        </p:nvGrpSpPr>
        <p:grpSpPr>
          <a:xfrm rot="-5400000">
            <a:off x="-781816" y="4677689"/>
            <a:ext cx="5181599" cy="3979620"/>
            <a:chOff x="-3254" y="-47625"/>
            <a:chExt cx="638254" cy="1048130"/>
          </a:xfrm>
        </p:grpSpPr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E6D944DE-6D11-D9C8-A132-5A8AF127D544}"/>
                </a:ext>
              </a:extLst>
            </p:cNvPr>
            <p:cNvSpPr/>
            <p:nvPr/>
          </p:nvSpPr>
          <p:spPr>
            <a:xfrm>
              <a:off x="-3254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A6C9ACD-06D9-8CD7-E5A5-13BC8C31C19C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800" b="1" spc="499" dirty="0">
                <a:solidFill>
                  <a:srgbClr val="00206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800" b="1" spc="499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00" spc="499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E31BDA1-B184-412C-3C9D-721BD229FFC8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4F88675-CD81-D5E5-7996-0D938A730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725153"/>
            <a:ext cx="12499911" cy="245096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9BA5AF1-1FDE-F60E-8322-40BB3D6ADC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428" y="232244"/>
            <a:ext cx="15161172" cy="748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64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00" spc="499" dirty="0">
              <a:solidFill>
                <a:schemeClr val="bg1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chemeClr val="bg1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00" spc="499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E31BDA1-B184-412C-3C9D-721BD229FFC8}"/>
              </a:ext>
            </a:extLst>
          </p:cNvPr>
          <p:cNvSpPr txBox="1"/>
          <p:nvPr/>
        </p:nvSpPr>
        <p:spPr>
          <a:xfrm>
            <a:off x="-8416" y="5115219"/>
            <a:ext cx="3491856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00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lang="en-US" sz="2400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76E727-BC66-69B4-14C0-8A3C47E2E2C2}"/>
              </a:ext>
            </a:extLst>
          </p:cNvPr>
          <p:cNvSpPr txBox="1"/>
          <p:nvPr/>
        </p:nvSpPr>
        <p:spPr>
          <a:xfrm>
            <a:off x="5715000" y="2933700"/>
            <a:ext cx="11049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PPT explanation part has ended.</a:t>
            </a:r>
          </a:p>
          <a:p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followed by a presentation of the results for the defense.</a:t>
            </a:r>
          </a:p>
        </p:txBody>
      </p:sp>
    </p:spTree>
    <p:extLst>
      <p:ext uri="{BB962C8B-B14F-4D97-AF65-F5344CB8AC3E}">
        <p14:creationId xmlns:p14="http://schemas.microsoft.com/office/powerpoint/2010/main" val="3305489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985233" y="2646642"/>
            <a:ext cx="340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0000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495623" y="2643567"/>
            <a:ext cx="3668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zh-CN" altLang="zh-CN" sz="36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917299" y="2601119"/>
            <a:ext cx="3611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。。</a:t>
            </a:r>
            <a:endParaRPr kumimoji="0" lang="zh-CN" altLang="zh-CN" sz="36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login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 descr="登录1">
            <a:extLst>
              <a:ext uri="{FF2B5EF4-FFF2-40B4-BE49-F238E27FC236}">
                <a16:creationId xmlns:a16="http://schemas.microsoft.com/office/drawing/2014/main" id="{02010F1C-B535-9FEA-9594-52DE34569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145" y="1866900"/>
            <a:ext cx="6263005" cy="6039485"/>
          </a:xfrm>
          <a:prstGeom prst="rect">
            <a:avLst/>
          </a:prstGeom>
        </p:spPr>
      </p:pic>
      <p:pic>
        <p:nvPicPr>
          <p:cNvPr id="14" name="图片 13" descr="登录2">
            <a:extLst>
              <a:ext uri="{FF2B5EF4-FFF2-40B4-BE49-F238E27FC236}">
                <a16:creationId xmlns:a16="http://schemas.microsoft.com/office/drawing/2014/main" id="{4E64D5B5-A529-A2B6-A94D-FFEF18A0B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00" y="2705100"/>
            <a:ext cx="6499225" cy="437642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14593" y="8259426"/>
            <a:ext cx="13639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Launch the client, enter the account password   Login Successfully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929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Course Selection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615464" y="2537620"/>
            <a:ext cx="37987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Go to the Open Course page and enter the course ID and instructor ID. </a:t>
            </a:r>
          </a:p>
          <a:p>
            <a:pPr>
              <a:defRPr/>
            </a:pP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The course was opened successfully.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DF0C82-D0E8-4C2F-8B33-DC2322B3C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224" y="1797673"/>
            <a:ext cx="10224413" cy="38227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6C5092-D737-B311-BB95-EDF2CFDC91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27"/>
          <a:stretch/>
        </p:blipFill>
        <p:spPr bwMode="auto">
          <a:xfrm>
            <a:off x="3974674" y="5712136"/>
            <a:ext cx="10477892" cy="42929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24430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65400" y="432597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Course Selection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222357" y="2084705"/>
            <a:ext cx="3774798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View All Available Courses  </a:t>
            </a:r>
          </a:p>
          <a:p>
            <a:pPr>
              <a:defRPr/>
            </a:pP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Select Course         </a:t>
            </a:r>
          </a:p>
          <a:p>
            <a:pPr>
              <a:defRPr/>
            </a:pP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Selection Successful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31D5E0-72B2-91C1-F908-4816510B0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418" y="1118822"/>
            <a:ext cx="10363200" cy="541189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CAF220E-E40A-014F-B66D-E7884B8EF9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418" y="6530715"/>
            <a:ext cx="8958099" cy="36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24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75620" y="363922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homework assignment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8022E78-1BB6-E2B7-B30E-EDCA31AC3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030" y="1567319"/>
            <a:ext cx="10115245" cy="786741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609682" y="1452637"/>
            <a:ext cx="38889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Log in to your teacher account and go to the course selection page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1B8553-1DC9-DB58-1AD3-9B6EBD7BE3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606634" y="4623862"/>
            <a:ext cx="36556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Enter the course ID and assignment name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606634" y="6687091"/>
            <a:ext cx="3407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Enter the contents of the assignment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827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View Assignment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93847" y="8581935"/>
            <a:ext cx="12741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 enters course ID and assignment name to view course assignments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C70A6E-3B32-3B3D-A75C-C2FFAACF5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10" y="2196777"/>
            <a:ext cx="11781489" cy="638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34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View Assignment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348058" y="7741561"/>
            <a:ext cx="12876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Students enter answers to assignments and upload assignments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C74D539-5FD1-8F64-31A6-18FA7BFD4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272" y="3598670"/>
            <a:ext cx="14269992" cy="355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90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View Assignment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584627" y="2717780"/>
            <a:ext cx="34016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Teacher inputs course ID, assignment name to view student turned in assignments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581579" y="7128807"/>
            <a:ext cx="3401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Teachers enter student IDs to view student work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F1A0DAB-9A5A-E351-8B79-57592BC75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000" y="2324530"/>
            <a:ext cx="10710431" cy="733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77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148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Correct homework, view homework feedback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75620" y="9162288"/>
            <a:ext cx="12228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Teacher enters scores and evaluations, corrects assignments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CD9857-5CA1-94DD-3362-D60774C10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251" y="2701746"/>
            <a:ext cx="9067800" cy="62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4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148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Correct homework, view homework feedback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75620" y="8169931"/>
            <a:ext cx="10121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Students view assignment evaluations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2B65C39-8522-47EB-B629-5B158AF3D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487" y="3208682"/>
            <a:ext cx="13887451" cy="48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48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End-of-Course Functions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72000" y="7034934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Teacher enters overall grade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4238C08-3BC0-7955-F1BE-10AA2FF4C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164" y="3467100"/>
            <a:ext cx="13332096" cy="325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12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End-of-Course Functions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86DBE0-20B8-0E09-2026-6CF6A2ABA58D}"/>
              </a:ext>
            </a:extLst>
          </p:cNvPr>
          <p:cNvSpPr txBox="1"/>
          <p:nvPr/>
        </p:nvSpPr>
        <p:spPr>
          <a:xfrm>
            <a:off x="4572000" y="7195540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 views overall grade</a:t>
            </a:r>
            <a:endParaRPr lang="zh-CN" altLang="en-US" sz="36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1D55AEC-B437-83FC-0856-C57928F3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12858"/>
            <a:ext cx="13341745" cy="354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04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End-of-Course Functions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51C766-DA5D-0F76-68A9-B58B879B801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76800" y="7187563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Administrator closes course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8CDE33F-3043-E09B-A37D-4FBC80FFC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420" y="2886223"/>
            <a:ext cx="13685049" cy="41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6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700" b="1" spc="469" dirty="0">
                <a:solidFill>
                  <a:srgbClr val="003070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ser-level permission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06081" y="8989723"/>
            <a:ext cx="3798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initial permission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776087" y="8965070"/>
            <a:ext cx="7908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Give CS505 course folder permissions to student 700141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0F21A26-C235-7189-11D1-9E9CCB545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674" y="2008095"/>
            <a:ext cx="12668094" cy="656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55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1079335"/>
            <a:ext cx="12228407" cy="71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Free grouping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3332755" y="4049949"/>
            <a:ext cx="605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Creating a new group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06670" y="6530715"/>
            <a:ext cx="4167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Setting the initial members of a group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B3A48CA-14CF-341B-A33E-295689C18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604" y="2196778"/>
            <a:ext cx="9140798" cy="741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59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D5D6BAA-2942-3A75-A07D-39273791B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240" y="1826045"/>
            <a:ext cx="13836786" cy="6662156"/>
          </a:xfrm>
          <a:prstGeom prst="rect">
            <a:avLst/>
          </a:prstGeom>
        </p:spPr>
      </p:pic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3326853" cy="10287000"/>
            <a:chOff x="0" y="0"/>
            <a:chExt cx="876208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76208" cy="2709333"/>
            </a:xfrm>
            <a:custGeom>
              <a:avLst/>
              <a:gdLst/>
              <a:ahLst/>
              <a:cxnLst/>
              <a:rect l="l" t="t" r="r" b="b"/>
              <a:pathLst>
                <a:path w="876208" h="2709333">
                  <a:moveTo>
                    <a:pt x="0" y="0"/>
                  </a:moveTo>
                  <a:lnTo>
                    <a:pt x="876208" y="0"/>
                  </a:lnTo>
                  <a:lnTo>
                    <a:pt x="8762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43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4" name="Group 9"/>
          <p:cNvGrpSpPr/>
          <p:nvPr/>
        </p:nvGrpSpPr>
        <p:grpSpPr>
          <a:xfrm rot="-5400000">
            <a:off x="1366994" y="3601629"/>
            <a:ext cx="1054911" cy="3798794"/>
            <a:chOff x="0" y="0"/>
            <a:chExt cx="277837" cy="1000505"/>
          </a:xfrm>
        </p:grpSpPr>
        <p:sp>
          <p:nvSpPr>
            <p:cNvPr id="95" name="Freeform 10"/>
            <p:cNvSpPr/>
            <p:nvPr/>
          </p:nvSpPr>
          <p:spPr>
            <a:xfrm>
              <a:off x="0" y="0"/>
              <a:ext cx="277837" cy="1000505"/>
            </a:xfrm>
            <a:custGeom>
              <a:avLst/>
              <a:gdLst/>
              <a:ahLst/>
              <a:cxnLst/>
              <a:rect l="l" t="t" r="r" b="b"/>
              <a:pathLst>
                <a:path w="277837" h="1000505">
                  <a:moveTo>
                    <a:pt x="277837" y="0"/>
                  </a:moveTo>
                  <a:lnTo>
                    <a:pt x="277837" y="886205"/>
                  </a:lnTo>
                  <a:lnTo>
                    <a:pt x="138918" y="1000505"/>
                  </a:lnTo>
                  <a:lnTo>
                    <a:pt x="0" y="886205"/>
                  </a:lnTo>
                  <a:lnTo>
                    <a:pt x="0" y="0"/>
                  </a:lnTo>
                  <a:lnTo>
                    <a:pt x="277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11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AutoShape 5"/>
          <p:cNvSpPr/>
          <p:nvPr/>
        </p:nvSpPr>
        <p:spPr>
          <a:xfrm>
            <a:off x="-10037" y="3977878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29"/>
          <p:cNvSpPr txBox="1"/>
          <p:nvPr/>
        </p:nvSpPr>
        <p:spPr>
          <a:xfrm>
            <a:off x="-74841" y="4914900"/>
            <a:ext cx="3582521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09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640" normalizeH="0" baseline="0" noProof="0" dirty="0">
                <a:ln>
                  <a:noFill/>
                </a:ln>
                <a:solidFill>
                  <a:srgbClr val="3043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Student-Manage System</a:t>
            </a:r>
            <a:endParaRPr kumimoji="0" lang="en-US" sz="2800" b="1" i="0" u="none" strike="noStrike" kern="1200" cap="none" spc="640" normalizeH="0" baseline="0" noProof="0" dirty="0">
              <a:ln>
                <a:noFill/>
              </a:ln>
              <a:solidFill>
                <a:srgbClr val="3043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6" name="图片 145" descr="黑白色的标志&#10;&#10;低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9" y="432597"/>
            <a:ext cx="1764181" cy="1764181"/>
          </a:xfrm>
          <a:prstGeom prst="rect">
            <a:avLst/>
          </a:prstGeom>
        </p:spPr>
      </p:pic>
      <p:sp>
        <p:nvSpPr>
          <p:cNvPr id="5" name="AutoShape 13"/>
          <p:cNvSpPr/>
          <p:nvPr/>
        </p:nvSpPr>
        <p:spPr>
          <a:xfrm>
            <a:off x="-42183" y="4953236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/>
          <p:nvPr/>
        </p:nvSpPr>
        <p:spPr>
          <a:xfrm>
            <a:off x="-42183" y="5994085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15"/>
          <p:cNvSpPr/>
          <p:nvPr/>
        </p:nvSpPr>
        <p:spPr>
          <a:xfrm>
            <a:off x="-42183" y="7034934"/>
            <a:ext cx="3336378" cy="0"/>
          </a:xfrm>
          <a:prstGeom prst="line">
            <a:avLst/>
          </a:prstGeom>
          <a:ln w="19050" cap="flat">
            <a:solidFill>
              <a:srgbClr val="EEF2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87740" y="8387892"/>
            <a:ext cx="2086058" cy="12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04805" y="4076700"/>
            <a:ext cx="2781296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I-Node File System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152400" y="3086100"/>
            <a:ext cx="3086100" cy="79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499" normalizeH="0" baseline="0" noProof="0" dirty="0">
                <a:ln>
                  <a:noFill/>
                </a:ln>
                <a:solidFill>
                  <a:srgbClr val="EEF2F5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Communication Structure</a:t>
            </a:r>
            <a:endParaRPr kumimoji="0" lang="en-US" sz="2500" b="0" i="0" u="none" strike="noStrike" kern="1200" cap="none" spc="499" normalizeH="0" baseline="0" noProof="0" dirty="0">
              <a:ln>
                <a:noFill/>
              </a:ln>
              <a:solidFill>
                <a:srgbClr val="EEF2F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40675778-8B58-2D45-40A2-FF8AAA0476F9}"/>
              </a:ext>
            </a:extLst>
          </p:cNvPr>
          <p:cNvSpPr txBox="1"/>
          <p:nvPr/>
        </p:nvSpPr>
        <p:spPr>
          <a:xfrm>
            <a:off x="3987812" y="800100"/>
            <a:ext cx="13639229" cy="718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01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700" b="1" i="0" u="none" strike="noStrike" kern="1200" cap="none" spc="469" normalizeH="0" baseline="0" noProof="0" dirty="0">
                <a:ln>
                  <a:noFill/>
                </a:ln>
                <a:solidFill>
                  <a:srgbClr val="003070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Group Permission Assignment Function</a:t>
            </a:r>
            <a:endParaRPr kumimoji="0" lang="zh-CN" altLang="en-US" sz="4700" b="1" i="0" u="none" strike="noStrike" kern="1200" cap="none" spc="469" normalizeH="0" baseline="0" noProof="0" dirty="0">
              <a:ln>
                <a:noFill/>
              </a:ln>
              <a:solidFill>
                <a:srgbClr val="003070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7BB30B15-EABB-3479-E806-2BAD4DE30ECE}"/>
              </a:ext>
            </a:extLst>
          </p:cNvPr>
          <p:cNvSpPr txBox="1"/>
          <p:nvPr/>
        </p:nvSpPr>
        <p:spPr>
          <a:xfrm>
            <a:off x="587740" y="6134100"/>
            <a:ext cx="2086058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System Command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B28D358D-8197-1AB1-1241-F34B1F2BE745}"/>
              </a:ext>
            </a:extLst>
          </p:cNvPr>
          <p:cNvSpPr txBox="1"/>
          <p:nvPr/>
        </p:nvSpPr>
        <p:spPr>
          <a:xfrm>
            <a:off x="587740" y="7157763"/>
            <a:ext cx="2055962" cy="20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altLang="zh-CN" sz="2499" spc="499" dirty="0">
                <a:solidFill>
                  <a:srgbClr val="EEF2F5"/>
                </a:solidFill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Content overview and division of labor</a:t>
            </a:r>
            <a:endParaRPr lang="en-US" sz="2499" spc="499" dirty="0">
              <a:solidFill>
                <a:srgbClr val="EEF2F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A1E38E-9DB1-DAD0-FE15-2E0B3AB7F2C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56067" y="8855348"/>
            <a:ext cx="3798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initial permission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88AED6-F8CC-3A86-90A9-7DDB8A3B45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458200" y="8561626"/>
            <a:ext cx="5181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Give the CS222 group permissions to the CS809 course folder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C6B00A0-F366-C915-0FD3-203AC01C5A18}"/>
              </a:ext>
            </a:extLst>
          </p:cNvPr>
          <p:cNvSpPr txBox="1"/>
          <p:nvPr/>
        </p:nvSpPr>
        <p:spPr>
          <a:xfrm>
            <a:off x="14554200" y="9178514"/>
            <a:ext cx="4059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new permission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49624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3426</TotalTime>
  <Words>1577</Words>
  <Application>Microsoft Office PowerPoint</Application>
  <PresentationFormat>自定义</PresentationFormat>
  <Paragraphs>464</Paragraphs>
  <Slides>47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Segoe UI Semibold</vt:lpstr>
      <vt:lpstr>Britannic Bold</vt:lpstr>
      <vt:lpstr>Aharoni CLM Bold</vt:lpstr>
      <vt:lpstr>Times New Roman</vt:lpstr>
      <vt:lpstr>Arial</vt:lpstr>
      <vt:lpstr>SimSun-ExtB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研究背景</dc:title>
  <dc:creator>burt bai</dc:creator>
  <cp:lastModifiedBy>Joyce 全</cp:lastModifiedBy>
  <cp:revision>76</cp:revision>
  <dcterms:created xsi:type="dcterms:W3CDTF">2006-08-16T00:00:00Z</dcterms:created>
  <dcterms:modified xsi:type="dcterms:W3CDTF">2024-01-09T16:25:27Z</dcterms:modified>
  <dc:identifier>DAFk71qRxCw</dc:identifier>
</cp:coreProperties>
</file>